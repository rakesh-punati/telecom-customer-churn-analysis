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88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221346" y="9277476"/>
            <a:ext cx="4838128" cy="10095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21249" y="759506"/>
            <a:ext cx="8792845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98861" y="2377934"/>
            <a:ext cx="16530319" cy="682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87" y="0"/>
            <a:ext cx="18249011" cy="1004115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83109" y="5815308"/>
            <a:ext cx="13783310" cy="2069464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6200" spc="540" dirty="0">
                <a:solidFill>
                  <a:srgbClr val="000000"/>
                </a:solidFill>
              </a:rPr>
              <a:t>Telecom</a:t>
            </a:r>
            <a:r>
              <a:rPr sz="6200" spc="105" dirty="0">
                <a:solidFill>
                  <a:srgbClr val="000000"/>
                </a:solidFill>
              </a:rPr>
              <a:t> </a:t>
            </a:r>
            <a:r>
              <a:rPr sz="6200" spc="760" dirty="0">
                <a:solidFill>
                  <a:srgbClr val="000000"/>
                </a:solidFill>
              </a:rPr>
              <a:t>Customer</a:t>
            </a:r>
            <a:r>
              <a:rPr sz="6200" spc="105" dirty="0">
                <a:solidFill>
                  <a:srgbClr val="000000"/>
                </a:solidFill>
              </a:rPr>
              <a:t> </a:t>
            </a:r>
            <a:r>
              <a:rPr sz="6200" spc="900" dirty="0">
                <a:solidFill>
                  <a:srgbClr val="000000"/>
                </a:solidFill>
              </a:rPr>
              <a:t>Churn</a:t>
            </a:r>
            <a:r>
              <a:rPr sz="6200" spc="310" dirty="0">
                <a:solidFill>
                  <a:srgbClr val="000000"/>
                </a:solidFill>
              </a:rPr>
              <a:t> </a:t>
            </a:r>
            <a:r>
              <a:rPr sz="6200" spc="680" dirty="0">
                <a:solidFill>
                  <a:srgbClr val="000000"/>
                </a:solidFill>
              </a:rPr>
              <a:t>Analysis</a:t>
            </a:r>
            <a:endParaRPr sz="6200" dirty="0"/>
          </a:p>
          <a:p>
            <a:pPr marL="387985" algn="ctr">
              <a:lnSpc>
                <a:spcPct val="100000"/>
              </a:lnSpc>
              <a:spcBef>
                <a:spcPts val="1185"/>
              </a:spcBef>
            </a:pPr>
            <a:r>
              <a:rPr sz="5000" spc="555" dirty="0">
                <a:solidFill>
                  <a:srgbClr val="000000"/>
                </a:solidFill>
              </a:rPr>
              <a:t>Using</a:t>
            </a:r>
            <a:r>
              <a:rPr sz="5000" spc="240" dirty="0">
                <a:solidFill>
                  <a:srgbClr val="000000"/>
                </a:solidFill>
              </a:rPr>
              <a:t> </a:t>
            </a:r>
            <a:r>
              <a:rPr sz="5000" spc="670" dirty="0">
                <a:solidFill>
                  <a:srgbClr val="FFBD58"/>
                </a:solidFill>
              </a:rPr>
              <a:t>Power</a:t>
            </a:r>
            <a:r>
              <a:rPr sz="5000" spc="240" dirty="0">
                <a:solidFill>
                  <a:srgbClr val="FFBD58"/>
                </a:solidFill>
              </a:rPr>
              <a:t> </a:t>
            </a:r>
            <a:r>
              <a:rPr sz="5000" spc="320" dirty="0">
                <a:solidFill>
                  <a:srgbClr val="FFBD58"/>
                </a:solidFill>
              </a:rPr>
              <a:t>BI</a:t>
            </a:r>
            <a:endParaRPr sz="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5A122-B36E-967E-646E-60C37F133708}"/>
              </a:ext>
            </a:extLst>
          </p:cNvPr>
          <p:cNvSpPr txBox="1"/>
          <p:nvPr/>
        </p:nvSpPr>
        <p:spPr>
          <a:xfrm>
            <a:off x="13716000" y="7884772"/>
            <a:ext cx="45330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Rakesh Punati</a:t>
            </a:r>
          </a:p>
          <a:p>
            <a:r>
              <a:rPr lang="en-US" sz="3600" dirty="0"/>
              <a:t>Batch No: 403</a:t>
            </a:r>
          </a:p>
          <a:p>
            <a:r>
              <a:rPr lang="en-US" sz="3600" dirty="0" err="1"/>
              <a:t>Dilsukhnagar</a:t>
            </a:r>
            <a:endParaRPr lang="en-IN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Agenda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2513" y="2651137"/>
            <a:ext cx="152400" cy="1523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93818" y="2247645"/>
            <a:ext cx="7660640" cy="5092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735704">
              <a:lnSpc>
                <a:spcPct val="115900"/>
              </a:lnSpc>
              <a:spcBef>
                <a:spcPts val="95"/>
              </a:spcBef>
            </a:pPr>
            <a:r>
              <a:rPr sz="4100" b="1" dirty="0">
                <a:latin typeface="Times New Roman"/>
                <a:cs typeface="Times New Roman"/>
              </a:rPr>
              <a:t>Project</a:t>
            </a:r>
            <a:r>
              <a:rPr sz="4100" b="1" spc="-10" dirty="0">
                <a:latin typeface="Times New Roman"/>
                <a:cs typeface="Times New Roman"/>
              </a:rPr>
              <a:t> Overview </a:t>
            </a:r>
            <a:r>
              <a:rPr sz="4100" b="1" dirty="0">
                <a:latin typeface="Times New Roman"/>
                <a:cs typeface="Times New Roman"/>
              </a:rPr>
              <a:t>Data </a:t>
            </a:r>
            <a:r>
              <a:rPr sz="4100" b="1" spc="-10" dirty="0">
                <a:latin typeface="Times New Roman"/>
                <a:cs typeface="Times New Roman"/>
              </a:rPr>
              <a:t>Source</a:t>
            </a:r>
            <a:r>
              <a:rPr sz="4100" b="1" spc="1025" dirty="0">
                <a:latin typeface="Times New Roman"/>
                <a:cs typeface="Times New Roman"/>
              </a:rPr>
              <a:t> </a:t>
            </a:r>
            <a:r>
              <a:rPr sz="4100" b="1" dirty="0">
                <a:latin typeface="Times New Roman"/>
                <a:cs typeface="Times New Roman"/>
              </a:rPr>
              <a:t>Data</a:t>
            </a:r>
            <a:r>
              <a:rPr sz="4100" b="1" spc="-10" dirty="0">
                <a:latin typeface="Times New Roman"/>
                <a:cs typeface="Times New Roman"/>
              </a:rPr>
              <a:t> Preparation</a:t>
            </a:r>
            <a:endParaRPr sz="4100">
              <a:latin typeface="Times New Roman"/>
              <a:cs typeface="Times New Roman"/>
            </a:endParaRPr>
          </a:p>
          <a:p>
            <a:pPr marL="12700" marR="5080">
              <a:lnSpc>
                <a:spcPts val="5700"/>
              </a:lnSpc>
              <a:spcBef>
                <a:spcPts val="320"/>
              </a:spcBef>
            </a:pPr>
            <a:r>
              <a:rPr sz="4100" b="1" dirty="0">
                <a:latin typeface="Times New Roman"/>
                <a:cs typeface="Times New Roman"/>
              </a:rPr>
              <a:t>Dashboard</a:t>
            </a:r>
            <a:r>
              <a:rPr sz="4100" b="1" spc="-10" dirty="0">
                <a:latin typeface="Times New Roman"/>
                <a:cs typeface="Times New Roman"/>
              </a:rPr>
              <a:t> Visualizations </a:t>
            </a:r>
            <a:r>
              <a:rPr sz="4100" b="1" dirty="0">
                <a:latin typeface="Times New Roman"/>
                <a:cs typeface="Times New Roman"/>
              </a:rPr>
              <a:t>Applications &amp; </a:t>
            </a:r>
            <a:r>
              <a:rPr sz="4100" b="1" spc="-10" dirty="0">
                <a:latin typeface="Times New Roman"/>
                <a:cs typeface="Times New Roman"/>
              </a:rPr>
              <a:t>Recommendations Conclusion</a:t>
            </a:r>
            <a:endParaRPr sz="4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4100" b="1" dirty="0">
                <a:latin typeface="Times New Roman"/>
                <a:cs typeface="Times New Roman"/>
              </a:rPr>
              <a:t>Any </a:t>
            </a:r>
            <a:r>
              <a:rPr sz="4100" b="1" spc="-10" dirty="0">
                <a:latin typeface="Times New Roman"/>
                <a:cs typeface="Times New Roman"/>
              </a:rPr>
              <a:t>Queries</a:t>
            </a:r>
            <a:endParaRPr sz="41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2513" y="3375037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2513" y="4098937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2513" y="4822837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2513" y="5546737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2513" y="6270637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2513" y="6994537"/>
            <a:ext cx="152400" cy="152399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028712" y="629009"/>
            <a:ext cx="1571625" cy="1567815"/>
          </a:xfrm>
          <a:custGeom>
            <a:avLst/>
            <a:gdLst/>
            <a:ahLst/>
            <a:cxnLst/>
            <a:rect l="l" t="t" r="r" b="b"/>
            <a:pathLst>
              <a:path w="1571625" h="1567814">
                <a:moveTo>
                  <a:pt x="56892" y="731068"/>
                </a:moveTo>
                <a:lnTo>
                  <a:pt x="56892" y="85456"/>
                </a:lnTo>
                <a:lnTo>
                  <a:pt x="66836" y="44084"/>
                </a:lnTo>
                <a:lnTo>
                  <a:pt x="93473" y="14432"/>
                </a:lnTo>
                <a:lnTo>
                  <a:pt x="132016" y="0"/>
                </a:lnTo>
                <a:lnTo>
                  <a:pt x="177674" y="4286"/>
                </a:lnTo>
                <a:lnTo>
                  <a:pt x="402253" y="71434"/>
                </a:lnTo>
                <a:lnTo>
                  <a:pt x="128635" y="71434"/>
                </a:lnTo>
                <a:lnTo>
                  <a:pt x="128635" y="727513"/>
                </a:lnTo>
                <a:lnTo>
                  <a:pt x="92731" y="727513"/>
                </a:lnTo>
                <a:lnTo>
                  <a:pt x="83709" y="727740"/>
                </a:lnTo>
                <a:lnTo>
                  <a:pt x="74726" y="728409"/>
                </a:lnTo>
                <a:lnTo>
                  <a:pt x="65787" y="729518"/>
                </a:lnTo>
                <a:lnTo>
                  <a:pt x="56892" y="731068"/>
                </a:lnTo>
                <a:close/>
              </a:path>
              <a:path w="1571625" h="1567814">
                <a:moveTo>
                  <a:pt x="1570292" y="1359063"/>
                </a:moveTo>
                <a:lnTo>
                  <a:pt x="1499936" y="1359063"/>
                </a:lnTo>
                <a:lnTo>
                  <a:pt x="1499936" y="517246"/>
                </a:lnTo>
                <a:lnTo>
                  <a:pt x="1496238" y="501119"/>
                </a:lnTo>
                <a:lnTo>
                  <a:pt x="1485993" y="484454"/>
                </a:lnTo>
                <a:lnTo>
                  <a:pt x="1470477" y="469949"/>
                </a:lnTo>
                <a:lnTo>
                  <a:pt x="1450963" y="460302"/>
                </a:lnTo>
                <a:lnTo>
                  <a:pt x="157148" y="73475"/>
                </a:lnTo>
                <a:lnTo>
                  <a:pt x="153029" y="72147"/>
                </a:lnTo>
                <a:lnTo>
                  <a:pt x="148602" y="71434"/>
                </a:lnTo>
                <a:lnTo>
                  <a:pt x="402253" y="71434"/>
                </a:lnTo>
                <a:lnTo>
                  <a:pt x="1470542" y="390849"/>
                </a:lnTo>
                <a:lnTo>
                  <a:pt x="1470697" y="390849"/>
                </a:lnTo>
                <a:lnTo>
                  <a:pt x="1510124" y="410012"/>
                </a:lnTo>
                <a:lnTo>
                  <a:pt x="1541970" y="439828"/>
                </a:lnTo>
                <a:lnTo>
                  <a:pt x="1563260" y="476556"/>
                </a:lnTo>
                <a:lnTo>
                  <a:pt x="1571019" y="516456"/>
                </a:lnTo>
                <a:lnTo>
                  <a:pt x="1571019" y="1344684"/>
                </a:lnTo>
                <a:lnTo>
                  <a:pt x="1571207" y="1350445"/>
                </a:lnTo>
                <a:lnTo>
                  <a:pt x="1570802" y="1356165"/>
                </a:lnTo>
                <a:lnTo>
                  <a:pt x="1570406" y="1358414"/>
                </a:lnTo>
                <a:lnTo>
                  <a:pt x="1570292" y="1359063"/>
                </a:lnTo>
                <a:close/>
              </a:path>
              <a:path w="1571625" h="1567814">
                <a:moveTo>
                  <a:pt x="1471423" y="391113"/>
                </a:moveTo>
                <a:lnTo>
                  <a:pt x="1470542" y="390849"/>
                </a:lnTo>
                <a:lnTo>
                  <a:pt x="1470697" y="390849"/>
                </a:lnTo>
                <a:lnTo>
                  <a:pt x="1471423" y="391113"/>
                </a:lnTo>
                <a:close/>
              </a:path>
              <a:path w="1571625" h="1567814">
                <a:moveTo>
                  <a:pt x="987637" y="1567590"/>
                </a:moveTo>
                <a:lnTo>
                  <a:pt x="987637" y="1566866"/>
                </a:lnTo>
                <a:lnTo>
                  <a:pt x="951551" y="1559587"/>
                </a:lnTo>
                <a:lnTo>
                  <a:pt x="922098" y="1539736"/>
                </a:lnTo>
                <a:lnTo>
                  <a:pt x="902248" y="1510293"/>
                </a:lnTo>
                <a:lnTo>
                  <a:pt x="894972" y="1474241"/>
                </a:lnTo>
                <a:lnTo>
                  <a:pt x="894972" y="612044"/>
                </a:lnTo>
                <a:lnTo>
                  <a:pt x="902286" y="575953"/>
                </a:lnTo>
                <a:lnTo>
                  <a:pt x="922184" y="546492"/>
                </a:lnTo>
                <a:lnTo>
                  <a:pt x="951652" y="526633"/>
                </a:lnTo>
                <a:lnTo>
                  <a:pt x="987637" y="519353"/>
                </a:lnTo>
                <a:lnTo>
                  <a:pt x="1023667" y="526633"/>
                </a:lnTo>
                <a:lnTo>
                  <a:pt x="1053126" y="546492"/>
                </a:lnTo>
                <a:lnTo>
                  <a:pt x="1073007" y="575953"/>
                </a:lnTo>
                <a:lnTo>
                  <a:pt x="1080302" y="612044"/>
                </a:lnTo>
                <a:lnTo>
                  <a:pt x="1080302" y="1474965"/>
                </a:lnTo>
                <a:lnTo>
                  <a:pt x="1073025" y="1511045"/>
                </a:lnTo>
                <a:lnTo>
                  <a:pt x="1053176" y="1540484"/>
                </a:lnTo>
                <a:lnTo>
                  <a:pt x="1023723" y="1560320"/>
                </a:lnTo>
                <a:lnTo>
                  <a:pt x="987637" y="1567590"/>
                </a:lnTo>
                <a:close/>
              </a:path>
              <a:path w="1571625" h="1567814">
                <a:moveTo>
                  <a:pt x="689287" y="1464042"/>
                </a:moveTo>
                <a:lnTo>
                  <a:pt x="688686" y="1464042"/>
                </a:lnTo>
                <a:lnTo>
                  <a:pt x="652620" y="1456767"/>
                </a:lnTo>
                <a:lnTo>
                  <a:pt x="653045" y="1456767"/>
                </a:lnTo>
                <a:lnTo>
                  <a:pt x="623702" y="1436931"/>
                </a:lnTo>
                <a:lnTo>
                  <a:pt x="606187" y="1410952"/>
                </a:lnTo>
                <a:lnTo>
                  <a:pt x="603903" y="1407492"/>
                </a:lnTo>
                <a:lnTo>
                  <a:pt x="596648" y="1371544"/>
                </a:lnTo>
                <a:lnTo>
                  <a:pt x="596648" y="714544"/>
                </a:lnTo>
                <a:lnTo>
                  <a:pt x="603943" y="678464"/>
                </a:lnTo>
                <a:lnTo>
                  <a:pt x="623823" y="649025"/>
                </a:lnTo>
                <a:lnTo>
                  <a:pt x="653283" y="629189"/>
                </a:lnTo>
                <a:lnTo>
                  <a:pt x="689313" y="621918"/>
                </a:lnTo>
                <a:lnTo>
                  <a:pt x="725297" y="629189"/>
                </a:lnTo>
                <a:lnTo>
                  <a:pt x="754766" y="649025"/>
                </a:lnTo>
                <a:lnTo>
                  <a:pt x="774664" y="678464"/>
                </a:lnTo>
                <a:lnTo>
                  <a:pt x="781978" y="714544"/>
                </a:lnTo>
                <a:lnTo>
                  <a:pt x="781951" y="1371544"/>
                </a:lnTo>
                <a:lnTo>
                  <a:pt x="774701" y="1407492"/>
                </a:lnTo>
                <a:lnTo>
                  <a:pt x="754852" y="1436931"/>
                </a:lnTo>
                <a:lnTo>
                  <a:pt x="725399" y="1456767"/>
                </a:lnTo>
                <a:lnTo>
                  <a:pt x="689287" y="1464042"/>
                </a:lnTo>
                <a:close/>
              </a:path>
              <a:path w="1571625" h="1567814">
                <a:moveTo>
                  <a:pt x="390989" y="1366343"/>
                </a:moveTo>
                <a:lnTo>
                  <a:pt x="354903" y="1359063"/>
                </a:lnTo>
                <a:lnTo>
                  <a:pt x="325450" y="1339212"/>
                </a:lnTo>
                <a:lnTo>
                  <a:pt x="305600" y="1309770"/>
                </a:lnTo>
                <a:lnTo>
                  <a:pt x="298324" y="1273718"/>
                </a:lnTo>
                <a:lnTo>
                  <a:pt x="298324" y="812896"/>
                </a:lnTo>
                <a:lnTo>
                  <a:pt x="325450" y="747377"/>
                </a:lnTo>
                <a:lnTo>
                  <a:pt x="390989" y="720271"/>
                </a:lnTo>
                <a:lnTo>
                  <a:pt x="426897" y="727513"/>
                </a:lnTo>
                <a:lnTo>
                  <a:pt x="427029" y="727513"/>
                </a:lnTo>
                <a:lnTo>
                  <a:pt x="456524" y="747377"/>
                </a:lnTo>
                <a:lnTo>
                  <a:pt x="476414" y="776816"/>
                </a:lnTo>
                <a:lnTo>
                  <a:pt x="483720" y="812896"/>
                </a:lnTo>
                <a:lnTo>
                  <a:pt x="483720" y="1273718"/>
                </a:lnTo>
                <a:lnTo>
                  <a:pt x="476429" y="1309770"/>
                </a:lnTo>
                <a:lnTo>
                  <a:pt x="456553" y="1339212"/>
                </a:lnTo>
                <a:lnTo>
                  <a:pt x="427071" y="1359063"/>
                </a:lnTo>
                <a:lnTo>
                  <a:pt x="390989" y="1366343"/>
                </a:lnTo>
                <a:close/>
              </a:path>
              <a:path w="1571625" h="1567814">
                <a:moveTo>
                  <a:pt x="128635" y="731068"/>
                </a:moveTo>
                <a:lnTo>
                  <a:pt x="119725" y="729518"/>
                </a:lnTo>
                <a:lnTo>
                  <a:pt x="110771" y="728409"/>
                </a:lnTo>
                <a:lnTo>
                  <a:pt x="101773" y="727740"/>
                </a:lnTo>
                <a:lnTo>
                  <a:pt x="92731" y="727513"/>
                </a:lnTo>
                <a:lnTo>
                  <a:pt x="128635" y="727513"/>
                </a:lnTo>
                <a:lnTo>
                  <a:pt x="128635" y="731068"/>
                </a:lnTo>
                <a:close/>
              </a:path>
              <a:path w="1571625" h="1567814">
                <a:moveTo>
                  <a:pt x="92978" y="1266281"/>
                </a:moveTo>
                <a:lnTo>
                  <a:pt x="92678" y="1266281"/>
                </a:lnTo>
                <a:lnTo>
                  <a:pt x="56607" y="1258999"/>
                </a:lnTo>
                <a:lnTo>
                  <a:pt x="27151" y="1239148"/>
                </a:lnTo>
                <a:lnTo>
                  <a:pt x="7285" y="1209706"/>
                </a:lnTo>
                <a:lnTo>
                  <a:pt x="0" y="1173654"/>
                </a:lnTo>
                <a:lnTo>
                  <a:pt x="0" y="912763"/>
                </a:lnTo>
                <a:lnTo>
                  <a:pt x="7295" y="876711"/>
                </a:lnTo>
                <a:lnTo>
                  <a:pt x="27175" y="847268"/>
                </a:lnTo>
                <a:lnTo>
                  <a:pt x="56634" y="827417"/>
                </a:lnTo>
                <a:lnTo>
                  <a:pt x="92665" y="820138"/>
                </a:lnTo>
                <a:lnTo>
                  <a:pt x="98539" y="820138"/>
                </a:lnTo>
                <a:lnTo>
                  <a:pt x="139090" y="832473"/>
                </a:lnTo>
                <a:lnTo>
                  <a:pt x="173095" y="866440"/>
                </a:lnTo>
                <a:lnTo>
                  <a:pt x="185383" y="906690"/>
                </a:lnTo>
                <a:lnTo>
                  <a:pt x="185396" y="1173654"/>
                </a:lnTo>
                <a:lnTo>
                  <a:pt x="178113" y="1209706"/>
                </a:lnTo>
                <a:lnTo>
                  <a:pt x="158256" y="1239148"/>
                </a:lnTo>
                <a:lnTo>
                  <a:pt x="128831" y="1258999"/>
                </a:lnTo>
                <a:lnTo>
                  <a:pt x="129059" y="1258999"/>
                </a:lnTo>
                <a:lnTo>
                  <a:pt x="92978" y="1266281"/>
                </a:lnTo>
                <a:close/>
              </a:path>
              <a:path w="1571625" h="1567814">
                <a:moveTo>
                  <a:pt x="1489208" y="1431186"/>
                </a:moveTo>
                <a:lnTo>
                  <a:pt x="1450237" y="1425855"/>
                </a:lnTo>
                <a:lnTo>
                  <a:pt x="1173033" y="1342709"/>
                </a:lnTo>
                <a:lnTo>
                  <a:pt x="1173033" y="1267991"/>
                </a:lnTo>
                <a:lnTo>
                  <a:pt x="1471489" y="1357061"/>
                </a:lnTo>
                <a:lnTo>
                  <a:pt x="1475582" y="1358414"/>
                </a:lnTo>
                <a:lnTo>
                  <a:pt x="1479592" y="1359063"/>
                </a:lnTo>
                <a:lnTo>
                  <a:pt x="1570292" y="1359063"/>
                </a:lnTo>
                <a:lnTo>
                  <a:pt x="1568806" y="1367519"/>
                </a:lnTo>
                <a:lnTo>
                  <a:pt x="1550241" y="1402853"/>
                </a:lnTo>
                <a:lnTo>
                  <a:pt x="1511905" y="1427517"/>
                </a:lnTo>
                <a:lnTo>
                  <a:pt x="1494947" y="1430856"/>
                </a:lnTo>
                <a:lnTo>
                  <a:pt x="1489208" y="14311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21249" y="759506"/>
            <a:ext cx="601980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3985" algn="l"/>
              </a:tabLst>
            </a:pPr>
            <a:r>
              <a:rPr spc="-10" dirty="0"/>
              <a:t>Project</a:t>
            </a:r>
            <a:r>
              <a:rPr dirty="0"/>
              <a:t>	</a:t>
            </a:r>
            <a:r>
              <a:rPr spc="-10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4569" y="2815324"/>
            <a:ext cx="104775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24969" y="2457114"/>
            <a:ext cx="15276830" cy="595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6070">
              <a:lnSpc>
                <a:spcPct val="131500"/>
              </a:lnSpc>
              <a:spcBef>
                <a:spcPts val="100"/>
              </a:spcBef>
            </a:pPr>
            <a:r>
              <a:rPr sz="2900" b="1" dirty="0">
                <a:latin typeface="Times New Roman"/>
                <a:cs typeface="Times New Roman"/>
              </a:rPr>
              <a:t>To</a:t>
            </a:r>
            <a:r>
              <a:rPr sz="2900" b="1" spc="-9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analyze</a:t>
            </a:r>
            <a:r>
              <a:rPr sz="2900" b="1" spc="-9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customer</a:t>
            </a:r>
            <a:r>
              <a:rPr sz="2900" b="1" spc="-9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churn</a:t>
            </a:r>
            <a:r>
              <a:rPr sz="2900" b="1" spc="-9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patterns</a:t>
            </a:r>
            <a:r>
              <a:rPr sz="2900" b="1" spc="-9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and</a:t>
            </a:r>
            <a:r>
              <a:rPr sz="2900" b="1" spc="-9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identify</a:t>
            </a:r>
            <a:r>
              <a:rPr sz="2900" b="1" spc="-9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the</a:t>
            </a:r>
            <a:r>
              <a:rPr sz="2900" b="1" spc="-9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key</a:t>
            </a:r>
            <a:r>
              <a:rPr sz="2900" b="1" spc="-9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factors</a:t>
            </a:r>
            <a:r>
              <a:rPr sz="2900" b="1" spc="-9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influencing</a:t>
            </a:r>
            <a:r>
              <a:rPr sz="2900" b="1" spc="-9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customer</a:t>
            </a:r>
            <a:r>
              <a:rPr sz="2900" b="1" spc="-90" dirty="0">
                <a:latin typeface="Times New Roman"/>
                <a:cs typeface="Times New Roman"/>
              </a:rPr>
              <a:t> </a:t>
            </a:r>
            <a:r>
              <a:rPr sz="2900" b="1" spc="-10" dirty="0">
                <a:latin typeface="Times New Roman"/>
                <a:cs typeface="Times New Roman"/>
              </a:rPr>
              <a:t>attrition. </a:t>
            </a:r>
            <a:r>
              <a:rPr sz="2900" b="1" dirty="0">
                <a:latin typeface="Times New Roman"/>
                <a:cs typeface="Times New Roman"/>
              </a:rPr>
              <a:t>To</a:t>
            </a:r>
            <a:r>
              <a:rPr sz="2900" b="1" spc="-9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understand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customer</a:t>
            </a:r>
            <a:r>
              <a:rPr sz="2900" b="1" spc="-9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behavior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based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on</a:t>
            </a:r>
            <a:r>
              <a:rPr sz="2900" b="1" spc="-90" dirty="0">
                <a:latin typeface="Times New Roman"/>
                <a:cs typeface="Times New Roman"/>
              </a:rPr>
              <a:t> </a:t>
            </a:r>
            <a:r>
              <a:rPr sz="2900" b="1" spc="-10" dirty="0">
                <a:latin typeface="Times New Roman"/>
                <a:cs typeface="Times New Roman"/>
              </a:rPr>
              <a:t>demographics,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service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spc="-10" dirty="0">
                <a:latin typeface="Times New Roman"/>
                <a:cs typeface="Times New Roman"/>
              </a:rPr>
              <a:t>subscriptions,</a:t>
            </a:r>
            <a:r>
              <a:rPr sz="2900" b="1" spc="-9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and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spc="-10" dirty="0">
                <a:latin typeface="Times New Roman"/>
                <a:cs typeface="Times New Roman"/>
              </a:rPr>
              <a:t>billing information.</a:t>
            </a:r>
            <a:endParaRPr sz="2900">
              <a:latin typeface="Times New Roman"/>
              <a:cs typeface="Times New Roman"/>
            </a:endParaRPr>
          </a:p>
          <a:p>
            <a:pPr marL="12700" marR="164465">
              <a:lnSpc>
                <a:spcPts val="4580"/>
              </a:lnSpc>
              <a:spcBef>
                <a:spcPts val="330"/>
              </a:spcBef>
            </a:pPr>
            <a:r>
              <a:rPr sz="2900" b="1" dirty="0">
                <a:latin typeface="Times New Roman"/>
                <a:cs typeface="Times New Roman"/>
              </a:rPr>
              <a:t>To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measure</a:t>
            </a:r>
            <a:r>
              <a:rPr sz="2900" b="1" spc="-9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churn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rate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across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various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customer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segments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such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as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contract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type,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internet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spc="-10" dirty="0">
                <a:latin typeface="Times New Roman"/>
                <a:cs typeface="Times New Roman"/>
              </a:rPr>
              <a:t>service, </a:t>
            </a:r>
            <a:r>
              <a:rPr sz="2900" b="1" dirty="0">
                <a:latin typeface="Times New Roman"/>
                <a:cs typeface="Times New Roman"/>
              </a:rPr>
              <a:t>and</a:t>
            </a:r>
            <a:r>
              <a:rPr sz="2900" b="1" spc="-9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payment</a:t>
            </a:r>
            <a:r>
              <a:rPr sz="2900" b="1" spc="-85" dirty="0">
                <a:latin typeface="Times New Roman"/>
                <a:cs typeface="Times New Roman"/>
              </a:rPr>
              <a:t> </a:t>
            </a:r>
            <a:r>
              <a:rPr sz="2900" b="1" spc="-10" dirty="0">
                <a:latin typeface="Times New Roman"/>
                <a:cs typeface="Times New Roman"/>
              </a:rPr>
              <a:t>method.</a:t>
            </a: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900" b="1" dirty="0">
                <a:latin typeface="Times New Roman"/>
                <a:cs typeface="Times New Roman"/>
              </a:rPr>
              <a:t>To</a:t>
            </a:r>
            <a:r>
              <a:rPr sz="2900" b="1" spc="-10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visualize</a:t>
            </a:r>
            <a:r>
              <a:rPr sz="2900" b="1" spc="-10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business</a:t>
            </a:r>
            <a:r>
              <a:rPr sz="2900" b="1" spc="-10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performance</a:t>
            </a:r>
            <a:r>
              <a:rPr sz="2900" b="1" spc="-10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using</a:t>
            </a:r>
            <a:r>
              <a:rPr sz="2900" b="1" spc="-10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interactive</a:t>
            </a:r>
            <a:r>
              <a:rPr sz="2900" b="1" spc="-10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Power</a:t>
            </a:r>
            <a:r>
              <a:rPr sz="2900" b="1" spc="-10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BI</a:t>
            </a:r>
            <a:r>
              <a:rPr sz="2900" b="1" spc="-10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dashboards</a:t>
            </a:r>
            <a:r>
              <a:rPr sz="2900" b="1" spc="-10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and</a:t>
            </a:r>
            <a:r>
              <a:rPr sz="2900" b="1" spc="-105" dirty="0">
                <a:latin typeface="Times New Roman"/>
                <a:cs typeface="Times New Roman"/>
              </a:rPr>
              <a:t> </a:t>
            </a:r>
            <a:r>
              <a:rPr sz="2900" b="1" spc="-10" dirty="0">
                <a:latin typeface="Times New Roman"/>
                <a:cs typeface="Times New Roman"/>
              </a:rPr>
              <a:t>KPIs.</a:t>
            </a:r>
            <a:endParaRPr sz="2900">
              <a:latin typeface="Times New Roman"/>
              <a:cs typeface="Times New Roman"/>
            </a:endParaRPr>
          </a:p>
          <a:p>
            <a:pPr marL="12700" marR="1613535">
              <a:lnSpc>
                <a:spcPts val="4580"/>
              </a:lnSpc>
              <a:spcBef>
                <a:spcPts val="330"/>
              </a:spcBef>
            </a:pPr>
            <a:r>
              <a:rPr sz="2900" b="1" dirty="0">
                <a:latin typeface="Times New Roman"/>
                <a:cs typeface="Times New Roman"/>
              </a:rPr>
              <a:t>To</a:t>
            </a:r>
            <a:r>
              <a:rPr sz="2900" b="1" spc="-8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predict</a:t>
            </a:r>
            <a:r>
              <a:rPr sz="2900" b="1" spc="-8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churn</a:t>
            </a:r>
            <a:r>
              <a:rPr sz="2900" b="1" spc="-8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risk</a:t>
            </a:r>
            <a:r>
              <a:rPr sz="2900" b="1" spc="-8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and</a:t>
            </a:r>
            <a:r>
              <a:rPr sz="2900" b="1" spc="-8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highlight</a:t>
            </a:r>
            <a:r>
              <a:rPr sz="2900" b="1" spc="-80" dirty="0">
                <a:latin typeface="Times New Roman"/>
                <a:cs typeface="Times New Roman"/>
              </a:rPr>
              <a:t> </a:t>
            </a:r>
            <a:r>
              <a:rPr sz="2900" b="1" spc="-20" dirty="0">
                <a:latin typeface="Times New Roman"/>
                <a:cs typeface="Times New Roman"/>
              </a:rPr>
              <a:t>high-</a:t>
            </a:r>
            <a:r>
              <a:rPr sz="2900" b="1" dirty="0">
                <a:latin typeface="Times New Roman"/>
                <a:cs typeface="Times New Roman"/>
              </a:rPr>
              <a:t>risk</a:t>
            </a:r>
            <a:r>
              <a:rPr sz="2900" b="1" spc="-8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customer</a:t>
            </a:r>
            <a:r>
              <a:rPr sz="2900" b="1" spc="-8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segments</a:t>
            </a:r>
            <a:r>
              <a:rPr sz="2900" b="1" spc="-8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for</a:t>
            </a:r>
            <a:r>
              <a:rPr sz="2900" b="1" spc="-7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targeted</a:t>
            </a:r>
            <a:r>
              <a:rPr sz="2900" b="1" spc="-80" dirty="0">
                <a:latin typeface="Times New Roman"/>
                <a:cs typeface="Times New Roman"/>
              </a:rPr>
              <a:t> </a:t>
            </a:r>
            <a:r>
              <a:rPr sz="2900" b="1" spc="-10" dirty="0">
                <a:latin typeface="Times New Roman"/>
                <a:cs typeface="Times New Roman"/>
              </a:rPr>
              <a:t>retention strategies.</a:t>
            </a:r>
            <a:endParaRPr sz="29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  <a:spcBef>
                <a:spcPts val="830"/>
              </a:spcBef>
            </a:pP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6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support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data-</a:t>
            </a:r>
            <a:r>
              <a:rPr sz="3200" b="1" dirty="0">
                <a:latin typeface="Times New Roman"/>
                <a:cs typeface="Times New Roman"/>
              </a:rPr>
              <a:t>driven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decisions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that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can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reduce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churn,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increase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customer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satisfaction,</a:t>
            </a:r>
            <a:endParaRPr sz="32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  <a:spcBef>
                <a:spcPts val="1260"/>
              </a:spcBef>
            </a:pPr>
            <a:r>
              <a:rPr sz="3200" b="1" dirty="0">
                <a:latin typeface="Times New Roman"/>
                <a:cs typeface="Times New Roman"/>
              </a:rPr>
              <a:t>and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improve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revenue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stability.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4569" y="3396348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4569" y="4558398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4569" y="5720448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4569" y="6301473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2194" y="7501623"/>
            <a:ext cx="114300" cy="11429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28712" y="629009"/>
            <a:ext cx="1571625" cy="1567815"/>
          </a:xfrm>
          <a:custGeom>
            <a:avLst/>
            <a:gdLst/>
            <a:ahLst/>
            <a:cxnLst/>
            <a:rect l="l" t="t" r="r" b="b"/>
            <a:pathLst>
              <a:path w="1571625" h="1567814">
                <a:moveTo>
                  <a:pt x="56892" y="731068"/>
                </a:moveTo>
                <a:lnTo>
                  <a:pt x="56892" y="85456"/>
                </a:lnTo>
                <a:lnTo>
                  <a:pt x="66836" y="44084"/>
                </a:lnTo>
                <a:lnTo>
                  <a:pt x="93473" y="14432"/>
                </a:lnTo>
                <a:lnTo>
                  <a:pt x="132016" y="0"/>
                </a:lnTo>
                <a:lnTo>
                  <a:pt x="177674" y="4286"/>
                </a:lnTo>
                <a:lnTo>
                  <a:pt x="402253" y="71434"/>
                </a:lnTo>
                <a:lnTo>
                  <a:pt x="128635" y="71434"/>
                </a:lnTo>
                <a:lnTo>
                  <a:pt x="128635" y="727513"/>
                </a:lnTo>
                <a:lnTo>
                  <a:pt x="92731" y="727513"/>
                </a:lnTo>
                <a:lnTo>
                  <a:pt x="83709" y="727740"/>
                </a:lnTo>
                <a:lnTo>
                  <a:pt x="74726" y="728409"/>
                </a:lnTo>
                <a:lnTo>
                  <a:pt x="65787" y="729518"/>
                </a:lnTo>
                <a:lnTo>
                  <a:pt x="56892" y="731068"/>
                </a:lnTo>
                <a:close/>
              </a:path>
              <a:path w="1571625" h="1567814">
                <a:moveTo>
                  <a:pt x="1570292" y="1359063"/>
                </a:moveTo>
                <a:lnTo>
                  <a:pt x="1499936" y="1359063"/>
                </a:lnTo>
                <a:lnTo>
                  <a:pt x="1499936" y="517246"/>
                </a:lnTo>
                <a:lnTo>
                  <a:pt x="1496238" y="501119"/>
                </a:lnTo>
                <a:lnTo>
                  <a:pt x="1485993" y="484454"/>
                </a:lnTo>
                <a:lnTo>
                  <a:pt x="1470477" y="469949"/>
                </a:lnTo>
                <a:lnTo>
                  <a:pt x="1450963" y="460302"/>
                </a:lnTo>
                <a:lnTo>
                  <a:pt x="157148" y="73475"/>
                </a:lnTo>
                <a:lnTo>
                  <a:pt x="153029" y="72147"/>
                </a:lnTo>
                <a:lnTo>
                  <a:pt x="148602" y="71434"/>
                </a:lnTo>
                <a:lnTo>
                  <a:pt x="402253" y="71434"/>
                </a:lnTo>
                <a:lnTo>
                  <a:pt x="1470542" y="390849"/>
                </a:lnTo>
                <a:lnTo>
                  <a:pt x="1470697" y="390849"/>
                </a:lnTo>
                <a:lnTo>
                  <a:pt x="1510124" y="410012"/>
                </a:lnTo>
                <a:lnTo>
                  <a:pt x="1541970" y="439828"/>
                </a:lnTo>
                <a:lnTo>
                  <a:pt x="1563260" y="476556"/>
                </a:lnTo>
                <a:lnTo>
                  <a:pt x="1571019" y="516456"/>
                </a:lnTo>
                <a:lnTo>
                  <a:pt x="1571019" y="1344684"/>
                </a:lnTo>
                <a:lnTo>
                  <a:pt x="1571207" y="1350445"/>
                </a:lnTo>
                <a:lnTo>
                  <a:pt x="1570802" y="1356165"/>
                </a:lnTo>
                <a:lnTo>
                  <a:pt x="1570406" y="1358414"/>
                </a:lnTo>
                <a:lnTo>
                  <a:pt x="1570292" y="1359063"/>
                </a:lnTo>
                <a:close/>
              </a:path>
              <a:path w="1571625" h="1567814">
                <a:moveTo>
                  <a:pt x="1471423" y="391113"/>
                </a:moveTo>
                <a:lnTo>
                  <a:pt x="1470542" y="390849"/>
                </a:lnTo>
                <a:lnTo>
                  <a:pt x="1470697" y="390849"/>
                </a:lnTo>
                <a:lnTo>
                  <a:pt x="1471423" y="391113"/>
                </a:lnTo>
                <a:close/>
              </a:path>
              <a:path w="1571625" h="1567814">
                <a:moveTo>
                  <a:pt x="987637" y="1567590"/>
                </a:moveTo>
                <a:lnTo>
                  <a:pt x="987637" y="1566866"/>
                </a:lnTo>
                <a:lnTo>
                  <a:pt x="951551" y="1559587"/>
                </a:lnTo>
                <a:lnTo>
                  <a:pt x="922098" y="1539736"/>
                </a:lnTo>
                <a:lnTo>
                  <a:pt x="902248" y="1510293"/>
                </a:lnTo>
                <a:lnTo>
                  <a:pt x="894972" y="1474241"/>
                </a:lnTo>
                <a:lnTo>
                  <a:pt x="894972" y="612044"/>
                </a:lnTo>
                <a:lnTo>
                  <a:pt x="902286" y="575953"/>
                </a:lnTo>
                <a:lnTo>
                  <a:pt x="922184" y="546492"/>
                </a:lnTo>
                <a:lnTo>
                  <a:pt x="951652" y="526633"/>
                </a:lnTo>
                <a:lnTo>
                  <a:pt x="987637" y="519353"/>
                </a:lnTo>
                <a:lnTo>
                  <a:pt x="1023667" y="526633"/>
                </a:lnTo>
                <a:lnTo>
                  <a:pt x="1053126" y="546492"/>
                </a:lnTo>
                <a:lnTo>
                  <a:pt x="1073007" y="575953"/>
                </a:lnTo>
                <a:lnTo>
                  <a:pt x="1080302" y="612044"/>
                </a:lnTo>
                <a:lnTo>
                  <a:pt x="1080302" y="1474965"/>
                </a:lnTo>
                <a:lnTo>
                  <a:pt x="1073025" y="1511045"/>
                </a:lnTo>
                <a:lnTo>
                  <a:pt x="1053176" y="1540484"/>
                </a:lnTo>
                <a:lnTo>
                  <a:pt x="1023723" y="1560320"/>
                </a:lnTo>
                <a:lnTo>
                  <a:pt x="987637" y="1567590"/>
                </a:lnTo>
                <a:close/>
              </a:path>
              <a:path w="1571625" h="1567814">
                <a:moveTo>
                  <a:pt x="689287" y="1464042"/>
                </a:moveTo>
                <a:lnTo>
                  <a:pt x="688686" y="1464042"/>
                </a:lnTo>
                <a:lnTo>
                  <a:pt x="652620" y="1456767"/>
                </a:lnTo>
                <a:lnTo>
                  <a:pt x="653045" y="1456767"/>
                </a:lnTo>
                <a:lnTo>
                  <a:pt x="623702" y="1436931"/>
                </a:lnTo>
                <a:lnTo>
                  <a:pt x="606187" y="1410952"/>
                </a:lnTo>
                <a:lnTo>
                  <a:pt x="603903" y="1407492"/>
                </a:lnTo>
                <a:lnTo>
                  <a:pt x="596648" y="1371544"/>
                </a:lnTo>
                <a:lnTo>
                  <a:pt x="596648" y="714544"/>
                </a:lnTo>
                <a:lnTo>
                  <a:pt x="603943" y="678464"/>
                </a:lnTo>
                <a:lnTo>
                  <a:pt x="623823" y="649025"/>
                </a:lnTo>
                <a:lnTo>
                  <a:pt x="653283" y="629189"/>
                </a:lnTo>
                <a:lnTo>
                  <a:pt x="689313" y="621918"/>
                </a:lnTo>
                <a:lnTo>
                  <a:pt x="725297" y="629189"/>
                </a:lnTo>
                <a:lnTo>
                  <a:pt x="754766" y="649025"/>
                </a:lnTo>
                <a:lnTo>
                  <a:pt x="774664" y="678464"/>
                </a:lnTo>
                <a:lnTo>
                  <a:pt x="781978" y="714544"/>
                </a:lnTo>
                <a:lnTo>
                  <a:pt x="781951" y="1371544"/>
                </a:lnTo>
                <a:lnTo>
                  <a:pt x="774701" y="1407492"/>
                </a:lnTo>
                <a:lnTo>
                  <a:pt x="754852" y="1436931"/>
                </a:lnTo>
                <a:lnTo>
                  <a:pt x="725399" y="1456767"/>
                </a:lnTo>
                <a:lnTo>
                  <a:pt x="689287" y="1464042"/>
                </a:lnTo>
                <a:close/>
              </a:path>
              <a:path w="1571625" h="1567814">
                <a:moveTo>
                  <a:pt x="390989" y="1366343"/>
                </a:moveTo>
                <a:lnTo>
                  <a:pt x="354903" y="1359063"/>
                </a:lnTo>
                <a:lnTo>
                  <a:pt x="325450" y="1339212"/>
                </a:lnTo>
                <a:lnTo>
                  <a:pt x="305600" y="1309770"/>
                </a:lnTo>
                <a:lnTo>
                  <a:pt x="298324" y="1273718"/>
                </a:lnTo>
                <a:lnTo>
                  <a:pt x="298324" y="812896"/>
                </a:lnTo>
                <a:lnTo>
                  <a:pt x="325450" y="747377"/>
                </a:lnTo>
                <a:lnTo>
                  <a:pt x="390989" y="720271"/>
                </a:lnTo>
                <a:lnTo>
                  <a:pt x="426897" y="727513"/>
                </a:lnTo>
                <a:lnTo>
                  <a:pt x="427029" y="727513"/>
                </a:lnTo>
                <a:lnTo>
                  <a:pt x="456524" y="747377"/>
                </a:lnTo>
                <a:lnTo>
                  <a:pt x="476414" y="776816"/>
                </a:lnTo>
                <a:lnTo>
                  <a:pt x="483720" y="812896"/>
                </a:lnTo>
                <a:lnTo>
                  <a:pt x="483720" y="1273718"/>
                </a:lnTo>
                <a:lnTo>
                  <a:pt x="476429" y="1309770"/>
                </a:lnTo>
                <a:lnTo>
                  <a:pt x="456553" y="1339212"/>
                </a:lnTo>
                <a:lnTo>
                  <a:pt x="427071" y="1359063"/>
                </a:lnTo>
                <a:lnTo>
                  <a:pt x="390989" y="1366343"/>
                </a:lnTo>
                <a:close/>
              </a:path>
              <a:path w="1571625" h="1567814">
                <a:moveTo>
                  <a:pt x="128635" y="731068"/>
                </a:moveTo>
                <a:lnTo>
                  <a:pt x="119725" y="729518"/>
                </a:lnTo>
                <a:lnTo>
                  <a:pt x="110771" y="728409"/>
                </a:lnTo>
                <a:lnTo>
                  <a:pt x="101773" y="727740"/>
                </a:lnTo>
                <a:lnTo>
                  <a:pt x="92731" y="727513"/>
                </a:lnTo>
                <a:lnTo>
                  <a:pt x="128635" y="727513"/>
                </a:lnTo>
                <a:lnTo>
                  <a:pt x="128635" y="731068"/>
                </a:lnTo>
                <a:close/>
              </a:path>
              <a:path w="1571625" h="1567814">
                <a:moveTo>
                  <a:pt x="92978" y="1266281"/>
                </a:moveTo>
                <a:lnTo>
                  <a:pt x="92678" y="1266281"/>
                </a:lnTo>
                <a:lnTo>
                  <a:pt x="56607" y="1258999"/>
                </a:lnTo>
                <a:lnTo>
                  <a:pt x="27151" y="1239148"/>
                </a:lnTo>
                <a:lnTo>
                  <a:pt x="7285" y="1209706"/>
                </a:lnTo>
                <a:lnTo>
                  <a:pt x="0" y="1173654"/>
                </a:lnTo>
                <a:lnTo>
                  <a:pt x="0" y="912763"/>
                </a:lnTo>
                <a:lnTo>
                  <a:pt x="7295" y="876711"/>
                </a:lnTo>
                <a:lnTo>
                  <a:pt x="27175" y="847268"/>
                </a:lnTo>
                <a:lnTo>
                  <a:pt x="56634" y="827417"/>
                </a:lnTo>
                <a:lnTo>
                  <a:pt x="92665" y="820138"/>
                </a:lnTo>
                <a:lnTo>
                  <a:pt x="98539" y="820138"/>
                </a:lnTo>
                <a:lnTo>
                  <a:pt x="139090" y="832473"/>
                </a:lnTo>
                <a:lnTo>
                  <a:pt x="173095" y="866440"/>
                </a:lnTo>
                <a:lnTo>
                  <a:pt x="185383" y="906690"/>
                </a:lnTo>
                <a:lnTo>
                  <a:pt x="185396" y="1173654"/>
                </a:lnTo>
                <a:lnTo>
                  <a:pt x="178113" y="1209706"/>
                </a:lnTo>
                <a:lnTo>
                  <a:pt x="158256" y="1239148"/>
                </a:lnTo>
                <a:lnTo>
                  <a:pt x="128831" y="1258999"/>
                </a:lnTo>
                <a:lnTo>
                  <a:pt x="129059" y="1258999"/>
                </a:lnTo>
                <a:lnTo>
                  <a:pt x="92978" y="1266281"/>
                </a:lnTo>
                <a:close/>
              </a:path>
              <a:path w="1571625" h="1567814">
                <a:moveTo>
                  <a:pt x="1489208" y="1431186"/>
                </a:moveTo>
                <a:lnTo>
                  <a:pt x="1450237" y="1425855"/>
                </a:lnTo>
                <a:lnTo>
                  <a:pt x="1173033" y="1342709"/>
                </a:lnTo>
                <a:lnTo>
                  <a:pt x="1173033" y="1267991"/>
                </a:lnTo>
                <a:lnTo>
                  <a:pt x="1471489" y="1357061"/>
                </a:lnTo>
                <a:lnTo>
                  <a:pt x="1475582" y="1358414"/>
                </a:lnTo>
                <a:lnTo>
                  <a:pt x="1479592" y="1359063"/>
                </a:lnTo>
                <a:lnTo>
                  <a:pt x="1570292" y="1359063"/>
                </a:lnTo>
                <a:lnTo>
                  <a:pt x="1568806" y="1367519"/>
                </a:lnTo>
                <a:lnTo>
                  <a:pt x="1550241" y="1402853"/>
                </a:lnTo>
                <a:lnTo>
                  <a:pt x="1511905" y="1427517"/>
                </a:lnTo>
                <a:lnTo>
                  <a:pt x="1494947" y="1430856"/>
                </a:lnTo>
                <a:lnTo>
                  <a:pt x="1489208" y="14311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21249" y="759506"/>
            <a:ext cx="422910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8485" algn="l"/>
              </a:tabLst>
            </a:pPr>
            <a:r>
              <a:rPr spc="-20" dirty="0"/>
              <a:t>Data</a:t>
            </a:r>
            <a:r>
              <a:rPr dirty="0"/>
              <a:t>	</a:t>
            </a:r>
            <a:r>
              <a:rPr spc="-10" dirty="0"/>
              <a:t>Source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519" y="2760488"/>
            <a:ext cx="104774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03834" y="2409326"/>
            <a:ext cx="8111765" cy="253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Dataset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Name: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Telco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Customer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Churn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Dataset 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3200" b="1" dirty="0">
                <a:latin typeface="Times New Roman"/>
                <a:cs typeface="Times New Roman"/>
              </a:rPr>
              <a:t>File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Type: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Excel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file</a:t>
            </a:r>
            <a:endParaRPr sz="3200" dirty="0">
              <a:latin typeface="Times New Roman"/>
              <a:cs typeface="Times New Roman"/>
            </a:endParaRPr>
          </a:p>
          <a:p>
            <a:pPr marL="12700" marR="2305685">
              <a:lnSpc>
                <a:spcPct val="131700"/>
              </a:lnSpc>
            </a:pPr>
            <a:r>
              <a:rPr sz="3200" b="1" dirty="0">
                <a:latin typeface="Times New Roman"/>
                <a:cs typeface="Times New Roman"/>
              </a:rPr>
              <a:t>Total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Records: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7,043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customers </a:t>
            </a:r>
            <a:r>
              <a:rPr sz="3200" b="1" dirty="0">
                <a:latin typeface="Times New Roman"/>
                <a:cs typeface="Times New Roman"/>
              </a:rPr>
              <a:t>Total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Columns: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21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fields</a:t>
            </a:r>
            <a:endParaRPr lang="en-US" sz="3200" b="1" spc="-1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519" y="3322463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519" y="3884438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519" y="4446413"/>
            <a:ext cx="104774" cy="10477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028712" y="629009"/>
            <a:ext cx="1571625" cy="1567815"/>
          </a:xfrm>
          <a:custGeom>
            <a:avLst/>
            <a:gdLst/>
            <a:ahLst/>
            <a:cxnLst/>
            <a:rect l="l" t="t" r="r" b="b"/>
            <a:pathLst>
              <a:path w="1571625" h="1567814">
                <a:moveTo>
                  <a:pt x="56892" y="731068"/>
                </a:moveTo>
                <a:lnTo>
                  <a:pt x="56892" y="85456"/>
                </a:lnTo>
                <a:lnTo>
                  <a:pt x="66836" y="44084"/>
                </a:lnTo>
                <a:lnTo>
                  <a:pt x="93473" y="14432"/>
                </a:lnTo>
                <a:lnTo>
                  <a:pt x="132016" y="0"/>
                </a:lnTo>
                <a:lnTo>
                  <a:pt x="177674" y="4286"/>
                </a:lnTo>
                <a:lnTo>
                  <a:pt x="402253" y="71434"/>
                </a:lnTo>
                <a:lnTo>
                  <a:pt x="128635" y="71434"/>
                </a:lnTo>
                <a:lnTo>
                  <a:pt x="128635" y="727513"/>
                </a:lnTo>
                <a:lnTo>
                  <a:pt x="92731" y="727513"/>
                </a:lnTo>
                <a:lnTo>
                  <a:pt x="83709" y="727740"/>
                </a:lnTo>
                <a:lnTo>
                  <a:pt x="74726" y="728409"/>
                </a:lnTo>
                <a:lnTo>
                  <a:pt x="65787" y="729518"/>
                </a:lnTo>
                <a:lnTo>
                  <a:pt x="56892" y="731068"/>
                </a:lnTo>
                <a:close/>
              </a:path>
              <a:path w="1571625" h="1567814">
                <a:moveTo>
                  <a:pt x="1570292" y="1359063"/>
                </a:moveTo>
                <a:lnTo>
                  <a:pt x="1499936" y="1359063"/>
                </a:lnTo>
                <a:lnTo>
                  <a:pt x="1499936" y="517246"/>
                </a:lnTo>
                <a:lnTo>
                  <a:pt x="1496238" y="501119"/>
                </a:lnTo>
                <a:lnTo>
                  <a:pt x="1485993" y="484454"/>
                </a:lnTo>
                <a:lnTo>
                  <a:pt x="1470477" y="469949"/>
                </a:lnTo>
                <a:lnTo>
                  <a:pt x="1450963" y="460302"/>
                </a:lnTo>
                <a:lnTo>
                  <a:pt x="157148" y="73475"/>
                </a:lnTo>
                <a:lnTo>
                  <a:pt x="153029" y="72147"/>
                </a:lnTo>
                <a:lnTo>
                  <a:pt x="148602" y="71434"/>
                </a:lnTo>
                <a:lnTo>
                  <a:pt x="402253" y="71434"/>
                </a:lnTo>
                <a:lnTo>
                  <a:pt x="1470542" y="390849"/>
                </a:lnTo>
                <a:lnTo>
                  <a:pt x="1470697" y="390849"/>
                </a:lnTo>
                <a:lnTo>
                  <a:pt x="1510124" y="410012"/>
                </a:lnTo>
                <a:lnTo>
                  <a:pt x="1541970" y="439828"/>
                </a:lnTo>
                <a:lnTo>
                  <a:pt x="1563260" y="476556"/>
                </a:lnTo>
                <a:lnTo>
                  <a:pt x="1571019" y="516456"/>
                </a:lnTo>
                <a:lnTo>
                  <a:pt x="1571019" y="1344684"/>
                </a:lnTo>
                <a:lnTo>
                  <a:pt x="1571207" y="1350445"/>
                </a:lnTo>
                <a:lnTo>
                  <a:pt x="1570802" y="1356165"/>
                </a:lnTo>
                <a:lnTo>
                  <a:pt x="1570406" y="1358414"/>
                </a:lnTo>
                <a:lnTo>
                  <a:pt x="1570292" y="1359063"/>
                </a:lnTo>
                <a:close/>
              </a:path>
              <a:path w="1571625" h="1567814">
                <a:moveTo>
                  <a:pt x="1471423" y="391113"/>
                </a:moveTo>
                <a:lnTo>
                  <a:pt x="1470542" y="390849"/>
                </a:lnTo>
                <a:lnTo>
                  <a:pt x="1470697" y="390849"/>
                </a:lnTo>
                <a:lnTo>
                  <a:pt x="1471423" y="391113"/>
                </a:lnTo>
                <a:close/>
              </a:path>
              <a:path w="1571625" h="1567814">
                <a:moveTo>
                  <a:pt x="987637" y="1567590"/>
                </a:moveTo>
                <a:lnTo>
                  <a:pt x="987637" y="1566866"/>
                </a:lnTo>
                <a:lnTo>
                  <a:pt x="951551" y="1559587"/>
                </a:lnTo>
                <a:lnTo>
                  <a:pt x="922098" y="1539736"/>
                </a:lnTo>
                <a:lnTo>
                  <a:pt x="902248" y="1510293"/>
                </a:lnTo>
                <a:lnTo>
                  <a:pt x="894972" y="1474241"/>
                </a:lnTo>
                <a:lnTo>
                  <a:pt x="894972" y="612044"/>
                </a:lnTo>
                <a:lnTo>
                  <a:pt x="902286" y="575953"/>
                </a:lnTo>
                <a:lnTo>
                  <a:pt x="922184" y="546492"/>
                </a:lnTo>
                <a:lnTo>
                  <a:pt x="951652" y="526633"/>
                </a:lnTo>
                <a:lnTo>
                  <a:pt x="987637" y="519353"/>
                </a:lnTo>
                <a:lnTo>
                  <a:pt x="1023667" y="526633"/>
                </a:lnTo>
                <a:lnTo>
                  <a:pt x="1053126" y="546492"/>
                </a:lnTo>
                <a:lnTo>
                  <a:pt x="1073007" y="575953"/>
                </a:lnTo>
                <a:lnTo>
                  <a:pt x="1080302" y="612044"/>
                </a:lnTo>
                <a:lnTo>
                  <a:pt x="1080302" y="1474965"/>
                </a:lnTo>
                <a:lnTo>
                  <a:pt x="1073025" y="1511045"/>
                </a:lnTo>
                <a:lnTo>
                  <a:pt x="1053176" y="1540484"/>
                </a:lnTo>
                <a:lnTo>
                  <a:pt x="1023723" y="1560320"/>
                </a:lnTo>
                <a:lnTo>
                  <a:pt x="987637" y="1567590"/>
                </a:lnTo>
                <a:close/>
              </a:path>
              <a:path w="1571625" h="1567814">
                <a:moveTo>
                  <a:pt x="689287" y="1464042"/>
                </a:moveTo>
                <a:lnTo>
                  <a:pt x="688686" y="1464042"/>
                </a:lnTo>
                <a:lnTo>
                  <a:pt x="652620" y="1456767"/>
                </a:lnTo>
                <a:lnTo>
                  <a:pt x="653045" y="1456767"/>
                </a:lnTo>
                <a:lnTo>
                  <a:pt x="623702" y="1436931"/>
                </a:lnTo>
                <a:lnTo>
                  <a:pt x="606187" y="1410952"/>
                </a:lnTo>
                <a:lnTo>
                  <a:pt x="603903" y="1407492"/>
                </a:lnTo>
                <a:lnTo>
                  <a:pt x="596648" y="1371544"/>
                </a:lnTo>
                <a:lnTo>
                  <a:pt x="596648" y="714544"/>
                </a:lnTo>
                <a:lnTo>
                  <a:pt x="603943" y="678464"/>
                </a:lnTo>
                <a:lnTo>
                  <a:pt x="623823" y="649025"/>
                </a:lnTo>
                <a:lnTo>
                  <a:pt x="653283" y="629189"/>
                </a:lnTo>
                <a:lnTo>
                  <a:pt x="689313" y="621918"/>
                </a:lnTo>
                <a:lnTo>
                  <a:pt x="725297" y="629189"/>
                </a:lnTo>
                <a:lnTo>
                  <a:pt x="754766" y="649025"/>
                </a:lnTo>
                <a:lnTo>
                  <a:pt x="774664" y="678464"/>
                </a:lnTo>
                <a:lnTo>
                  <a:pt x="781978" y="714544"/>
                </a:lnTo>
                <a:lnTo>
                  <a:pt x="781951" y="1371544"/>
                </a:lnTo>
                <a:lnTo>
                  <a:pt x="774701" y="1407492"/>
                </a:lnTo>
                <a:lnTo>
                  <a:pt x="754852" y="1436931"/>
                </a:lnTo>
                <a:lnTo>
                  <a:pt x="725399" y="1456767"/>
                </a:lnTo>
                <a:lnTo>
                  <a:pt x="689287" y="1464042"/>
                </a:lnTo>
                <a:close/>
              </a:path>
              <a:path w="1571625" h="1567814">
                <a:moveTo>
                  <a:pt x="390989" y="1366343"/>
                </a:moveTo>
                <a:lnTo>
                  <a:pt x="354903" y="1359063"/>
                </a:lnTo>
                <a:lnTo>
                  <a:pt x="325450" y="1339212"/>
                </a:lnTo>
                <a:lnTo>
                  <a:pt x="305600" y="1309770"/>
                </a:lnTo>
                <a:lnTo>
                  <a:pt x="298324" y="1273718"/>
                </a:lnTo>
                <a:lnTo>
                  <a:pt x="298324" y="812896"/>
                </a:lnTo>
                <a:lnTo>
                  <a:pt x="325450" y="747377"/>
                </a:lnTo>
                <a:lnTo>
                  <a:pt x="390989" y="720271"/>
                </a:lnTo>
                <a:lnTo>
                  <a:pt x="426897" y="727513"/>
                </a:lnTo>
                <a:lnTo>
                  <a:pt x="427029" y="727513"/>
                </a:lnTo>
                <a:lnTo>
                  <a:pt x="456524" y="747377"/>
                </a:lnTo>
                <a:lnTo>
                  <a:pt x="476414" y="776816"/>
                </a:lnTo>
                <a:lnTo>
                  <a:pt x="483720" y="812896"/>
                </a:lnTo>
                <a:lnTo>
                  <a:pt x="483720" y="1273718"/>
                </a:lnTo>
                <a:lnTo>
                  <a:pt x="476429" y="1309770"/>
                </a:lnTo>
                <a:lnTo>
                  <a:pt x="456553" y="1339212"/>
                </a:lnTo>
                <a:lnTo>
                  <a:pt x="427071" y="1359063"/>
                </a:lnTo>
                <a:lnTo>
                  <a:pt x="390989" y="1366343"/>
                </a:lnTo>
                <a:close/>
              </a:path>
              <a:path w="1571625" h="1567814">
                <a:moveTo>
                  <a:pt x="128635" y="731068"/>
                </a:moveTo>
                <a:lnTo>
                  <a:pt x="119725" y="729518"/>
                </a:lnTo>
                <a:lnTo>
                  <a:pt x="110771" y="728409"/>
                </a:lnTo>
                <a:lnTo>
                  <a:pt x="101773" y="727740"/>
                </a:lnTo>
                <a:lnTo>
                  <a:pt x="92731" y="727513"/>
                </a:lnTo>
                <a:lnTo>
                  <a:pt x="128635" y="727513"/>
                </a:lnTo>
                <a:lnTo>
                  <a:pt x="128635" y="731068"/>
                </a:lnTo>
                <a:close/>
              </a:path>
              <a:path w="1571625" h="1567814">
                <a:moveTo>
                  <a:pt x="92978" y="1266281"/>
                </a:moveTo>
                <a:lnTo>
                  <a:pt x="92678" y="1266281"/>
                </a:lnTo>
                <a:lnTo>
                  <a:pt x="56607" y="1258999"/>
                </a:lnTo>
                <a:lnTo>
                  <a:pt x="27151" y="1239148"/>
                </a:lnTo>
                <a:lnTo>
                  <a:pt x="7285" y="1209706"/>
                </a:lnTo>
                <a:lnTo>
                  <a:pt x="0" y="1173654"/>
                </a:lnTo>
                <a:lnTo>
                  <a:pt x="0" y="912763"/>
                </a:lnTo>
                <a:lnTo>
                  <a:pt x="7295" y="876711"/>
                </a:lnTo>
                <a:lnTo>
                  <a:pt x="27175" y="847268"/>
                </a:lnTo>
                <a:lnTo>
                  <a:pt x="56634" y="827417"/>
                </a:lnTo>
                <a:lnTo>
                  <a:pt x="92665" y="820138"/>
                </a:lnTo>
                <a:lnTo>
                  <a:pt x="98539" y="820138"/>
                </a:lnTo>
                <a:lnTo>
                  <a:pt x="139090" y="832473"/>
                </a:lnTo>
                <a:lnTo>
                  <a:pt x="173095" y="866440"/>
                </a:lnTo>
                <a:lnTo>
                  <a:pt x="185383" y="906690"/>
                </a:lnTo>
                <a:lnTo>
                  <a:pt x="185396" y="1173654"/>
                </a:lnTo>
                <a:lnTo>
                  <a:pt x="178113" y="1209706"/>
                </a:lnTo>
                <a:lnTo>
                  <a:pt x="158256" y="1239148"/>
                </a:lnTo>
                <a:lnTo>
                  <a:pt x="128831" y="1258999"/>
                </a:lnTo>
                <a:lnTo>
                  <a:pt x="129059" y="1258999"/>
                </a:lnTo>
                <a:lnTo>
                  <a:pt x="92978" y="1266281"/>
                </a:lnTo>
                <a:close/>
              </a:path>
              <a:path w="1571625" h="1567814">
                <a:moveTo>
                  <a:pt x="1489208" y="1431186"/>
                </a:moveTo>
                <a:lnTo>
                  <a:pt x="1450237" y="1425855"/>
                </a:lnTo>
                <a:lnTo>
                  <a:pt x="1173033" y="1342709"/>
                </a:lnTo>
                <a:lnTo>
                  <a:pt x="1173033" y="1267991"/>
                </a:lnTo>
                <a:lnTo>
                  <a:pt x="1471489" y="1357061"/>
                </a:lnTo>
                <a:lnTo>
                  <a:pt x="1475582" y="1358414"/>
                </a:lnTo>
                <a:lnTo>
                  <a:pt x="1479592" y="1359063"/>
                </a:lnTo>
                <a:lnTo>
                  <a:pt x="1570292" y="1359063"/>
                </a:lnTo>
                <a:lnTo>
                  <a:pt x="1568806" y="1367519"/>
                </a:lnTo>
                <a:lnTo>
                  <a:pt x="1550241" y="1402853"/>
                </a:lnTo>
                <a:lnTo>
                  <a:pt x="1511905" y="1427517"/>
                </a:lnTo>
                <a:lnTo>
                  <a:pt x="1494947" y="1430856"/>
                </a:lnTo>
                <a:lnTo>
                  <a:pt x="1489208" y="14311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21249" y="759506"/>
            <a:ext cx="600011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8485" algn="l"/>
              </a:tabLst>
            </a:pPr>
            <a:r>
              <a:rPr spc="-20" dirty="0"/>
              <a:t>Data</a:t>
            </a:r>
            <a:r>
              <a:rPr dirty="0"/>
              <a:t>	</a:t>
            </a:r>
            <a:r>
              <a:rPr spc="-10" dirty="0"/>
              <a:t>Preparation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6281" y="2565605"/>
            <a:ext cx="104774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74597" y="2214444"/>
            <a:ext cx="15492730" cy="67691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800" b="1" dirty="0">
                <a:latin typeface="Times New Roman"/>
                <a:cs typeface="Times New Roman"/>
              </a:rPr>
              <a:t>Imported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dataset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into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Power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BI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Desktop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from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Excel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file.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800" b="1" dirty="0">
                <a:latin typeface="Times New Roman"/>
                <a:cs typeface="Times New Roman"/>
              </a:rPr>
              <a:t>Performed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data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cleaning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using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Power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Query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Editor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ensure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accuracy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consistency.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31700"/>
              </a:lnSpc>
            </a:pPr>
            <a:r>
              <a:rPr sz="2800" b="1" dirty="0">
                <a:latin typeface="Times New Roman"/>
                <a:cs typeface="Times New Roman"/>
              </a:rPr>
              <a:t>Checked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removed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null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values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columns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like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TotalCharges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replaced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blanks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where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necessary. </a:t>
            </a:r>
            <a:r>
              <a:rPr sz="2800" b="1" dirty="0">
                <a:latin typeface="Times New Roman"/>
                <a:cs typeface="Times New Roman"/>
              </a:rPr>
              <a:t>Converted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TotalCharges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from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text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numeric.</a:t>
            </a:r>
            <a:endParaRPr sz="2800">
              <a:latin typeface="Times New Roman"/>
              <a:cs typeface="Times New Roman"/>
            </a:endParaRPr>
          </a:p>
          <a:p>
            <a:pPr marL="12700" marR="668655">
              <a:lnSpc>
                <a:spcPct val="131700"/>
              </a:lnSpc>
            </a:pPr>
            <a:r>
              <a:rPr sz="2800" b="1" dirty="0">
                <a:latin typeface="Times New Roman"/>
                <a:cs typeface="Times New Roman"/>
              </a:rPr>
              <a:t>Ensured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SeniorCitizen,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Churn,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Partner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were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properly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categorized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as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Yes/No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or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binary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fields. </a:t>
            </a:r>
            <a:r>
              <a:rPr sz="2800" b="1" dirty="0">
                <a:latin typeface="Times New Roman"/>
                <a:cs typeface="Times New Roman"/>
              </a:rPr>
              <a:t>Created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calculated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columns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DAX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measures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for:</a:t>
            </a:r>
            <a:endParaRPr sz="2800">
              <a:latin typeface="Times New Roman"/>
              <a:cs typeface="Times New Roman"/>
            </a:endParaRPr>
          </a:p>
          <a:p>
            <a:pPr marL="12700" marR="3405504">
              <a:lnSpc>
                <a:spcPct val="131700"/>
              </a:lnSpc>
            </a:pPr>
            <a:r>
              <a:rPr sz="2800" b="1" dirty="0">
                <a:latin typeface="Times New Roman"/>
                <a:cs typeface="Times New Roman"/>
              </a:rPr>
              <a:t>Churn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Rate,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Average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Monthly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Charges,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Average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Tenure,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Total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Revenue </a:t>
            </a:r>
            <a:r>
              <a:rPr sz="2800" b="1" dirty="0">
                <a:latin typeface="Times New Roman"/>
                <a:cs typeface="Times New Roman"/>
              </a:rPr>
              <a:t>Standardized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categorical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values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No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internet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service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changed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No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clarity). </a:t>
            </a:r>
            <a:r>
              <a:rPr sz="2800" b="1" dirty="0">
                <a:latin typeface="Times New Roman"/>
                <a:cs typeface="Times New Roman"/>
              </a:rPr>
              <a:t>Added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new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derived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fields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advanced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analysis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such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as:</a:t>
            </a:r>
            <a:endParaRPr sz="2800">
              <a:latin typeface="Times New Roman"/>
              <a:cs typeface="Times New Roman"/>
            </a:endParaRPr>
          </a:p>
          <a:p>
            <a:pPr marL="12700" marR="5123180">
              <a:lnSpc>
                <a:spcPct val="131700"/>
              </a:lnSpc>
            </a:pPr>
            <a:r>
              <a:rPr sz="2800" b="1" dirty="0">
                <a:latin typeface="Times New Roman"/>
                <a:cs typeface="Times New Roman"/>
              </a:rPr>
              <a:t>Total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Services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Subscribed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(count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services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per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customer)</a:t>
            </a:r>
            <a:r>
              <a:rPr sz="2800" b="1" spc="7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Validated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dataset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ensure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no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duplicates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or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mismatched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entries.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800" b="1" dirty="0">
                <a:latin typeface="Times New Roman"/>
                <a:cs typeface="Times New Roman"/>
              </a:rPr>
              <a:t>Loaded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cleaned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data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into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Power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BI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Model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for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visualization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analysis.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6281" y="3127580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6281" y="3689555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6281" y="4251530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6281" y="4813505"/>
            <a:ext cx="104774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6281" y="5375480"/>
            <a:ext cx="104774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6281" y="5937455"/>
            <a:ext cx="104774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6281" y="6499430"/>
            <a:ext cx="104774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6281" y="7061405"/>
            <a:ext cx="104774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6281" y="7623380"/>
            <a:ext cx="104774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6281" y="8185355"/>
            <a:ext cx="104774" cy="1047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6281" y="8747330"/>
            <a:ext cx="104774" cy="10477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028712" y="629009"/>
            <a:ext cx="1571625" cy="1567815"/>
          </a:xfrm>
          <a:custGeom>
            <a:avLst/>
            <a:gdLst/>
            <a:ahLst/>
            <a:cxnLst/>
            <a:rect l="l" t="t" r="r" b="b"/>
            <a:pathLst>
              <a:path w="1571625" h="1567814">
                <a:moveTo>
                  <a:pt x="56892" y="731068"/>
                </a:moveTo>
                <a:lnTo>
                  <a:pt x="56892" y="85456"/>
                </a:lnTo>
                <a:lnTo>
                  <a:pt x="66836" y="44084"/>
                </a:lnTo>
                <a:lnTo>
                  <a:pt x="93473" y="14432"/>
                </a:lnTo>
                <a:lnTo>
                  <a:pt x="132016" y="0"/>
                </a:lnTo>
                <a:lnTo>
                  <a:pt x="177674" y="4286"/>
                </a:lnTo>
                <a:lnTo>
                  <a:pt x="402253" y="71434"/>
                </a:lnTo>
                <a:lnTo>
                  <a:pt x="128635" y="71434"/>
                </a:lnTo>
                <a:lnTo>
                  <a:pt x="128635" y="727513"/>
                </a:lnTo>
                <a:lnTo>
                  <a:pt x="92731" y="727513"/>
                </a:lnTo>
                <a:lnTo>
                  <a:pt x="83709" y="727740"/>
                </a:lnTo>
                <a:lnTo>
                  <a:pt x="74726" y="728409"/>
                </a:lnTo>
                <a:lnTo>
                  <a:pt x="65787" y="729518"/>
                </a:lnTo>
                <a:lnTo>
                  <a:pt x="56892" y="731068"/>
                </a:lnTo>
                <a:close/>
              </a:path>
              <a:path w="1571625" h="1567814">
                <a:moveTo>
                  <a:pt x="1570292" y="1359063"/>
                </a:moveTo>
                <a:lnTo>
                  <a:pt x="1499936" y="1359063"/>
                </a:lnTo>
                <a:lnTo>
                  <a:pt x="1499936" y="517246"/>
                </a:lnTo>
                <a:lnTo>
                  <a:pt x="1496238" y="501119"/>
                </a:lnTo>
                <a:lnTo>
                  <a:pt x="1485993" y="484454"/>
                </a:lnTo>
                <a:lnTo>
                  <a:pt x="1470477" y="469949"/>
                </a:lnTo>
                <a:lnTo>
                  <a:pt x="1450963" y="460302"/>
                </a:lnTo>
                <a:lnTo>
                  <a:pt x="157148" y="73475"/>
                </a:lnTo>
                <a:lnTo>
                  <a:pt x="153029" y="72147"/>
                </a:lnTo>
                <a:lnTo>
                  <a:pt x="148602" y="71434"/>
                </a:lnTo>
                <a:lnTo>
                  <a:pt x="402253" y="71434"/>
                </a:lnTo>
                <a:lnTo>
                  <a:pt x="1470542" y="390849"/>
                </a:lnTo>
                <a:lnTo>
                  <a:pt x="1470697" y="390849"/>
                </a:lnTo>
                <a:lnTo>
                  <a:pt x="1510124" y="410012"/>
                </a:lnTo>
                <a:lnTo>
                  <a:pt x="1541970" y="439828"/>
                </a:lnTo>
                <a:lnTo>
                  <a:pt x="1563260" y="476556"/>
                </a:lnTo>
                <a:lnTo>
                  <a:pt x="1571019" y="516456"/>
                </a:lnTo>
                <a:lnTo>
                  <a:pt x="1571019" y="1344684"/>
                </a:lnTo>
                <a:lnTo>
                  <a:pt x="1571207" y="1350445"/>
                </a:lnTo>
                <a:lnTo>
                  <a:pt x="1570802" y="1356165"/>
                </a:lnTo>
                <a:lnTo>
                  <a:pt x="1570406" y="1358414"/>
                </a:lnTo>
                <a:lnTo>
                  <a:pt x="1570292" y="1359063"/>
                </a:lnTo>
                <a:close/>
              </a:path>
              <a:path w="1571625" h="1567814">
                <a:moveTo>
                  <a:pt x="1471423" y="391113"/>
                </a:moveTo>
                <a:lnTo>
                  <a:pt x="1470542" y="390849"/>
                </a:lnTo>
                <a:lnTo>
                  <a:pt x="1470697" y="390849"/>
                </a:lnTo>
                <a:lnTo>
                  <a:pt x="1471423" y="391113"/>
                </a:lnTo>
                <a:close/>
              </a:path>
              <a:path w="1571625" h="1567814">
                <a:moveTo>
                  <a:pt x="987637" y="1567590"/>
                </a:moveTo>
                <a:lnTo>
                  <a:pt x="987637" y="1566866"/>
                </a:lnTo>
                <a:lnTo>
                  <a:pt x="951551" y="1559587"/>
                </a:lnTo>
                <a:lnTo>
                  <a:pt x="922098" y="1539736"/>
                </a:lnTo>
                <a:lnTo>
                  <a:pt x="902248" y="1510293"/>
                </a:lnTo>
                <a:lnTo>
                  <a:pt x="894972" y="1474241"/>
                </a:lnTo>
                <a:lnTo>
                  <a:pt x="894972" y="612044"/>
                </a:lnTo>
                <a:lnTo>
                  <a:pt x="902286" y="575953"/>
                </a:lnTo>
                <a:lnTo>
                  <a:pt x="922184" y="546492"/>
                </a:lnTo>
                <a:lnTo>
                  <a:pt x="951652" y="526633"/>
                </a:lnTo>
                <a:lnTo>
                  <a:pt x="987637" y="519353"/>
                </a:lnTo>
                <a:lnTo>
                  <a:pt x="1023667" y="526633"/>
                </a:lnTo>
                <a:lnTo>
                  <a:pt x="1053126" y="546492"/>
                </a:lnTo>
                <a:lnTo>
                  <a:pt x="1073007" y="575953"/>
                </a:lnTo>
                <a:lnTo>
                  <a:pt x="1080302" y="612044"/>
                </a:lnTo>
                <a:lnTo>
                  <a:pt x="1080302" y="1474965"/>
                </a:lnTo>
                <a:lnTo>
                  <a:pt x="1073025" y="1511045"/>
                </a:lnTo>
                <a:lnTo>
                  <a:pt x="1053176" y="1540484"/>
                </a:lnTo>
                <a:lnTo>
                  <a:pt x="1023723" y="1560320"/>
                </a:lnTo>
                <a:lnTo>
                  <a:pt x="987637" y="1567590"/>
                </a:lnTo>
                <a:close/>
              </a:path>
              <a:path w="1571625" h="1567814">
                <a:moveTo>
                  <a:pt x="689287" y="1464042"/>
                </a:moveTo>
                <a:lnTo>
                  <a:pt x="688686" y="1464042"/>
                </a:lnTo>
                <a:lnTo>
                  <a:pt x="652620" y="1456767"/>
                </a:lnTo>
                <a:lnTo>
                  <a:pt x="653045" y="1456767"/>
                </a:lnTo>
                <a:lnTo>
                  <a:pt x="623702" y="1436931"/>
                </a:lnTo>
                <a:lnTo>
                  <a:pt x="606187" y="1410952"/>
                </a:lnTo>
                <a:lnTo>
                  <a:pt x="603903" y="1407492"/>
                </a:lnTo>
                <a:lnTo>
                  <a:pt x="596648" y="1371544"/>
                </a:lnTo>
                <a:lnTo>
                  <a:pt x="596648" y="714544"/>
                </a:lnTo>
                <a:lnTo>
                  <a:pt x="603943" y="678464"/>
                </a:lnTo>
                <a:lnTo>
                  <a:pt x="623823" y="649025"/>
                </a:lnTo>
                <a:lnTo>
                  <a:pt x="653283" y="629189"/>
                </a:lnTo>
                <a:lnTo>
                  <a:pt x="689313" y="621918"/>
                </a:lnTo>
                <a:lnTo>
                  <a:pt x="725297" y="629189"/>
                </a:lnTo>
                <a:lnTo>
                  <a:pt x="754766" y="649025"/>
                </a:lnTo>
                <a:lnTo>
                  <a:pt x="774664" y="678464"/>
                </a:lnTo>
                <a:lnTo>
                  <a:pt x="781978" y="714544"/>
                </a:lnTo>
                <a:lnTo>
                  <a:pt x="781951" y="1371544"/>
                </a:lnTo>
                <a:lnTo>
                  <a:pt x="774701" y="1407492"/>
                </a:lnTo>
                <a:lnTo>
                  <a:pt x="754852" y="1436931"/>
                </a:lnTo>
                <a:lnTo>
                  <a:pt x="725399" y="1456767"/>
                </a:lnTo>
                <a:lnTo>
                  <a:pt x="689287" y="1464042"/>
                </a:lnTo>
                <a:close/>
              </a:path>
              <a:path w="1571625" h="1567814">
                <a:moveTo>
                  <a:pt x="390989" y="1366343"/>
                </a:moveTo>
                <a:lnTo>
                  <a:pt x="354903" y="1359063"/>
                </a:lnTo>
                <a:lnTo>
                  <a:pt x="325450" y="1339212"/>
                </a:lnTo>
                <a:lnTo>
                  <a:pt x="305600" y="1309770"/>
                </a:lnTo>
                <a:lnTo>
                  <a:pt x="298324" y="1273718"/>
                </a:lnTo>
                <a:lnTo>
                  <a:pt x="298324" y="812896"/>
                </a:lnTo>
                <a:lnTo>
                  <a:pt x="325450" y="747377"/>
                </a:lnTo>
                <a:lnTo>
                  <a:pt x="390989" y="720271"/>
                </a:lnTo>
                <a:lnTo>
                  <a:pt x="426897" y="727513"/>
                </a:lnTo>
                <a:lnTo>
                  <a:pt x="427029" y="727513"/>
                </a:lnTo>
                <a:lnTo>
                  <a:pt x="456524" y="747377"/>
                </a:lnTo>
                <a:lnTo>
                  <a:pt x="476414" y="776816"/>
                </a:lnTo>
                <a:lnTo>
                  <a:pt x="483720" y="812896"/>
                </a:lnTo>
                <a:lnTo>
                  <a:pt x="483720" y="1273718"/>
                </a:lnTo>
                <a:lnTo>
                  <a:pt x="476429" y="1309770"/>
                </a:lnTo>
                <a:lnTo>
                  <a:pt x="456553" y="1339212"/>
                </a:lnTo>
                <a:lnTo>
                  <a:pt x="427071" y="1359063"/>
                </a:lnTo>
                <a:lnTo>
                  <a:pt x="390989" y="1366343"/>
                </a:lnTo>
                <a:close/>
              </a:path>
              <a:path w="1571625" h="1567814">
                <a:moveTo>
                  <a:pt x="128635" y="731068"/>
                </a:moveTo>
                <a:lnTo>
                  <a:pt x="119725" y="729518"/>
                </a:lnTo>
                <a:lnTo>
                  <a:pt x="110771" y="728409"/>
                </a:lnTo>
                <a:lnTo>
                  <a:pt x="101773" y="727740"/>
                </a:lnTo>
                <a:lnTo>
                  <a:pt x="92731" y="727513"/>
                </a:lnTo>
                <a:lnTo>
                  <a:pt x="128635" y="727513"/>
                </a:lnTo>
                <a:lnTo>
                  <a:pt x="128635" y="731068"/>
                </a:lnTo>
                <a:close/>
              </a:path>
              <a:path w="1571625" h="1567814">
                <a:moveTo>
                  <a:pt x="92978" y="1266281"/>
                </a:moveTo>
                <a:lnTo>
                  <a:pt x="92678" y="1266281"/>
                </a:lnTo>
                <a:lnTo>
                  <a:pt x="56607" y="1258999"/>
                </a:lnTo>
                <a:lnTo>
                  <a:pt x="27151" y="1239148"/>
                </a:lnTo>
                <a:lnTo>
                  <a:pt x="7285" y="1209706"/>
                </a:lnTo>
                <a:lnTo>
                  <a:pt x="0" y="1173654"/>
                </a:lnTo>
                <a:lnTo>
                  <a:pt x="0" y="912763"/>
                </a:lnTo>
                <a:lnTo>
                  <a:pt x="7295" y="876711"/>
                </a:lnTo>
                <a:lnTo>
                  <a:pt x="27175" y="847268"/>
                </a:lnTo>
                <a:lnTo>
                  <a:pt x="56634" y="827417"/>
                </a:lnTo>
                <a:lnTo>
                  <a:pt x="92665" y="820138"/>
                </a:lnTo>
                <a:lnTo>
                  <a:pt x="98539" y="820138"/>
                </a:lnTo>
                <a:lnTo>
                  <a:pt x="139090" y="832473"/>
                </a:lnTo>
                <a:lnTo>
                  <a:pt x="173095" y="866440"/>
                </a:lnTo>
                <a:lnTo>
                  <a:pt x="185383" y="906690"/>
                </a:lnTo>
                <a:lnTo>
                  <a:pt x="185396" y="1173654"/>
                </a:lnTo>
                <a:lnTo>
                  <a:pt x="178113" y="1209706"/>
                </a:lnTo>
                <a:lnTo>
                  <a:pt x="158256" y="1239148"/>
                </a:lnTo>
                <a:lnTo>
                  <a:pt x="128831" y="1258999"/>
                </a:lnTo>
                <a:lnTo>
                  <a:pt x="129059" y="1258999"/>
                </a:lnTo>
                <a:lnTo>
                  <a:pt x="92978" y="1266281"/>
                </a:lnTo>
                <a:close/>
              </a:path>
              <a:path w="1571625" h="1567814">
                <a:moveTo>
                  <a:pt x="1489208" y="1431186"/>
                </a:moveTo>
                <a:lnTo>
                  <a:pt x="1450237" y="1425855"/>
                </a:lnTo>
                <a:lnTo>
                  <a:pt x="1173033" y="1342709"/>
                </a:lnTo>
                <a:lnTo>
                  <a:pt x="1173033" y="1267991"/>
                </a:lnTo>
                <a:lnTo>
                  <a:pt x="1471489" y="1357061"/>
                </a:lnTo>
                <a:lnTo>
                  <a:pt x="1475582" y="1358414"/>
                </a:lnTo>
                <a:lnTo>
                  <a:pt x="1479592" y="1359063"/>
                </a:lnTo>
                <a:lnTo>
                  <a:pt x="1570292" y="1359063"/>
                </a:lnTo>
                <a:lnTo>
                  <a:pt x="1568806" y="1367519"/>
                </a:lnTo>
                <a:lnTo>
                  <a:pt x="1550241" y="1402853"/>
                </a:lnTo>
                <a:lnTo>
                  <a:pt x="1511905" y="1427517"/>
                </a:lnTo>
                <a:lnTo>
                  <a:pt x="1494947" y="1430856"/>
                </a:lnTo>
                <a:lnTo>
                  <a:pt x="1489208" y="14311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90340" algn="l"/>
              </a:tabLst>
            </a:pPr>
            <a:r>
              <a:rPr spc="-10" dirty="0"/>
              <a:t>Dashboard</a:t>
            </a:r>
            <a:r>
              <a:rPr dirty="0"/>
              <a:t>	</a:t>
            </a:r>
            <a:r>
              <a:rPr spc="-10" dirty="0"/>
              <a:t>Visualizations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347725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403923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460120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516318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4936" y="5725159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6287134"/>
            <a:ext cx="104774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4936" y="6849109"/>
            <a:ext cx="104774" cy="10477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/>
              <a:t>1.</a:t>
            </a:r>
            <a:r>
              <a:rPr spc="-70" dirty="0"/>
              <a:t> </a:t>
            </a:r>
            <a:r>
              <a:rPr dirty="0"/>
              <a:t>Customer</a:t>
            </a:r>
            <a:r>
              <a:rPr spc="-70" dirty="0"/>
              <a:t> </a:t>
            </a:r>
            <a:r>
              <a:rPr dirty="0"/>
              <a:t>Demographics</a:t>
            </a:r>
            <a:r>
              <a:rPr spc="-70" dirty="0"/>
              <a:t> </a:t>
            </a:r>
            <a:r>
              <a:rPr spc="-10" dirty="0"/>
              <a:t>Dashboard</a:t>
            </a:r>
          </a:p>
          <a:p>
            <a:pPr marL="616585">
              <a:lnSpc>
                <a:spcPct val="100000"/>
              </a:lnSpc>
              <a:spcBef>
                <a:spcPts val="1225"/>
              </a:spcBef>
            </a:pPr>
            <a:r>
              <a:rPr sz="2800" dirty="0"/>
              <a:t>Visuals</a:t>
            </a:r>
            <a:r>
              <a:rPr sz="2800" spc="-65" dirty="0"/>
              <a:t> </a:t>
            </a:r>
            <a:r>
              <a:rPr sz="2800" spc="-10" dirty="0"/>
              <a:t>Used:</a:t>
            </a:r>
            <a:endParaRPr sz="2800"/>
          </a:p>
          <a:p>
            <a:pPr marL="616585">
              <a:lnSpc>
                <a:spcPct val="100000"/>
              </a:lnSpc>
              <a:spcBef>
                <a:spcPts val="1065"/>
              </a:spcBef>
            </a:pPr>
            <a:r>
              <a:rPr sz="2800" dirty="0"/>
              <a:t>Donut</a:t>
            </a:r>
            <a:r>
              <a:rPr sz="2800" spc="-60" dirty="0"/>
              <a:t> </a:t>
            </a:r>
            <a:r>
              <a:rPr sz="2800" dirty="0"/>
              <a:t>Chart</a:t>
            </a:r>
            <a:r>
              <a:rPr sz="2800" spc="-55" dirty="0"/>
              <a:t> </a:t>
            </a:r>
            <a:r>
              <a:rPr sz="2800" dirty="0"/>
              <a:t>→</a:t>
            </a:r>
            <a:r>
              <a:rPr sz="2800" spc="-55" dirty="0"/>
              <a:t> </a:t>
            </a:r>
            <a:r>
              <a:rPr sz="2800" dirty="0"/>
              <a:t>Gender</a:t>
            </a:r>
            <a:r>
              <a:rPr sz="2800" spc="-55" dirty="0"/>
              <a:t> </a:t>
            </a:r>
            <a:r>
              <a:rPr sz="2800" spc="-10" dirty="0"/>
              <a:t>distribution</a:t>
            </a:r>
            <a:endParaRPr sz="2800"/>
          </a:p>
          <a:p>
            <a:pPr marL="616585" marR="5723255">
              <a:lnSpc>
                <a:spcPct val="131700"/>
              </a:lnSpc>
            </a:pPr>
            <a:r>
              <a:rPr sz="2800" dirty="0"/>
              <a:t>Bar</a:t>
            </a:r>
            <a:r>
              <a:rPr sz="2800" spc="-40" dirty="0"/>
              <a:t> </a:t>
            </a:r>
            <a:r>
              <a:rPr sz="2800" dirty="0"/>
              <a:t>Chart</a:t>
            </a:r>
            <a:r>
              <a:rPr sz="2800" spc="-35" dirty="0"/>
              <a:t> </a:t>
            </a:r>
            <a:r>
              <a:rPr sz="2800" dirty="0"/>
              <a:t>→</a:t>
            </a:r>
            <a:r>
              <a:rPr sz="2800" spc="-40" dirty="0"/>
              <a:t> </a:t>
            </a:r>
            <a:r>
              <a:rPr sz="2800" dirty="0"/>
              <a:t>Senior</a:t>
            </a:r>
            <a:r>
              <a:rPr sz="2800" spc="-35" dirty="0"/>
              <a:t> </a:t>
            </a:r>
            <a:r>
              <a:rPr sz="2800" dirty="0"/>
              <a:t>citizen</a:t>
            </a:r>
            <a:r>
              <a:rPr sz="2800" spc="-35" dirty="0"/>
              <a:t> </a:t>
            </a:r>
            <a:r>
              <a:rPr sz="2800" dirty="0"/>
              <a:t>vs.</a:t>
            </a:r>
            <a:r>
              <a:rPr sz="2800" spc="-40" dirty="0"/>
              <a:t> </a:t>
            </a:r>
            <a:r>
              <a:rPr sz="2800" spc="-20" dirty="0"/>
              <a:t>non-</a:t>
            </a:r>
            <a:r>
              <a:rPr sz="2800" dirty="0"/>
              <a:t>senior</a:t>
            </a:r>
            <a:r>
              <a:rPr sz="2800" spc="-35" dirty="0"/>
              <a:t> </a:t>
            </a:r>
            <a:r>
              <a:rPr sz="2800" dirty="0"/>
              <a:t>churn</a:t>
            </a:r>
            <a:r>
              <a:rPr sz="2800" spc="-35" dirty="0"/>
              <a:t> </a:t>
            </a:r>
            <a:r>
              <a:rPr sz="2800" spc="-10" dirty="0"/>
              <a:t>comparison </a:t>
            </a:r>
            <a:r>
              <a:rPr sz="2800" dirty="0"/>
              <a:t>Column</a:t>
            </a:r>
            <a:r>
              <a:rPr sz="2800" spc="-60" dirty="0"/>
              <a:t> </a:t>
            </a:r>
            <a:r>
              <a:rPr sz="2800" dirty="0"/>
              <a:t>Chart</a:t>
            </a:r>
            <a:r>
              <a:rPr sz="2800" spc="-60" dirty="0"/>
              <a:t> </a:t>
            </a:r>
            <a:r>
              <a:rPr sz="2800" dirty="0"/>
              <a:t>→</a:t>
            </a:r>
            <a:r>
              <a:rPr sz="2800" spc="-60" dirty="0"/>
              <a:t> </a:t>
            </a:r>
            <a:r>
              <a:rPr sz="2800" dirty="0"/>
              <a:t>Tenure</a:t>
            </a:r>
            <a:r>
              <a:rPr sz="2800" spc="-60" dirty="0"/>
              <a:t> </a:t>
            </a:r>
            <a:r>
              <a:rPr sz="2800" spc="-10" dirty="0"/>
              <a:t>segmentation</a:t>
            </a:r>
            <a:endParaRPr sz="2800"/>
          </a:p>
          <a:p>
            <a:pPr marL="616585">
              <a:lnSpc>
                <a:spcPct val="100000"/>
              </a:lnSpc>
              <a:spcBef>
                <a:spcPts val="1065"/>
              </a:spcBef>
            </a:pPr>
            <a:r>
              <a:rPr sz="2800" dirty="0"/>
              <a:t>Line</a:t>
            </a:r>
            <a:r>
              <a:rPr sz="2800" spc="-50" dirty="0"/>
              <a:t> </a:t>
            </a:r>
            <a:r>
              <a:rPr sz="2800" dirty="0"/>
              <a:t>Chart</a:t>
            </a:r>
            <a:r>
              <a:rPr sz="2800" spc="-45" dirty="0"/>
              <a:t> </a:t>
            </a:r>
            <a:r>
              <a:rPr sz="2800" dirty="0"/>
              <a:t>→</a:t>
            </a:r>
            <a:r>
              <a:rPr sz="2800" spc="-45" dirty="0"/>
              <a:t> </a:t>
            </a:r>
            <a:r>
              <a:rPr sz="2800" dirty="0"/>
              <a:t>Churn</a:t>
            </a:r>
            <a:r>
              <a:rPr sz="2800" spc="-45" dirty="0"/>
              <a:t> </a:t>
            </a:r>
            <a:r>
              <a:rPr sz="2800" dirty="0"/>
              <a:t>rate</a:t>
            </a:r>
            <a:r>
              <a:rPr sz="2800" spc="-45" dirty="0"/>
              <a:t> </a:t>
            </a:r>
            <a:r>
              <a:rPr sz="2800" dirty="0"/>
              <a:t>across</a:t>
            </a:r>
            <a:r>
              <a:rPr sz="2800" spc="-45" dirty="0"/>
              <a:t> </a:t>
            </a:r>
            <a:r>
              <a:rPr sz="2800" dirty="0"/>
              <a:t>tenure</a:t>
            </a:r>
            <a:r>
              <a:rPr sz="2800" spc="-45" dirty="0"/>
              <a:t> </a:t>
            </a:r>
            <a:r>
              <a:rPr sz="2800" spc="-10" dirty="0"/>
              <a:t>groups</a:t>
            </a:r>
            <a:endParaRPr sz="2800"/>
          </a:p>
          <a:p>
            <a:pPr marL="616585" marR="5080">
              <a:lnSpc>
                <a:spcPct val="131700"/>
              </a:lnSpc>
            </a:pPr>
            <a:r>
              <a:rPr sz="2800" dirty="0"/>
              <a:t>Cards</a:t>
            </a:r>
            <a:r>
              <a:rPr sz="2800" spc="-70" dirty="0"/>
              <a:t> </a:t>
            </a:r>
            <a:r>
              <a:rPr sz="2800" dirty="0"/>
              <a:t>→</a:t>
            </a:r>
            <a:r>
              <a:rPr sz="2800" spc="-65" dirty="0"/>
              <a:t> </a:t>
            </a:r>
            <a:r>
              <a:rPr sz="2800" dirty="0"/>
              <a:t>Total</a:t>
            </a:r>
            <a:r>
              <a:rPr sz="2800" spc="-65" dirty="0"/>
              <a:t> </a:t>
            </a:r>
            <a:r>
              <a:rPr sz="2800" dirty="0"/>
              <a:t>Customers,</a:t>
            </a:r>
            <a:r>
              <a:rPr sz="2800" spc="-65" dirty="0"/>
              <a:t> </a:t>
            </a:r>
            <a:r>
              <a:rPr sz="2800" dirty="0"/>
              <a:t>Churned</a:t>
            </a:r>
            <a:r>
              <a:rPr sz="2800" spc="-70" dirty="0"/>
              <a:t> </a:t>
            </a:r>
            <a:r>
              <a:rPr sz="2800" dirty="0"/>
              <a:t>Customers,</a:t>
            </a:r>
            <a:r>
              <a:rPr sz="2800" spc="-65" dirty="0"/>
              <a:t> </a:t>
            </a:r>
            <a:r>
              <a:rPr sz="2800" dirty="0"/>
              <a:t>Churn</a:t>
            </a:r>
            <a:r>
              <a:rPr sz="2800" spc="-65" dirty="0"/>
              <a:t> </a:t>
            </a:r>
            <a:r>
              <a:rPr sz="2800" dirty="0"/>
              <a:t>Rate,</a:t>
            </a:r>
            <a:r>
              <a:rPr sz="2800" spc="-65" dirty="0"/>
              <a:t> </a:t>
            </a:r>
            <a:r>
              <a:rPr sz="2800" dirty="0"/>
              <a:t>Avg.</a:t>
            </a:r>
            <a:r>
              <a:rPr sz="2800" spc="-70" dirty="0"/>
              <a:t> </a:t>
            </a:r>
            <a:r>
              <a:rPr sz="2800" dirty="0"/>
              <a:t>Tenure,</a:t>
            </a:r>
            <a:r>
              <a:rPr sz="2800" spc="-65" dirty="0"/>
              <a:t> </a:t>
            </a:r>
            <a:r>
              <a:rPr sz="2800" dirty="0"/>
              <a:t>Avg.</a:t>
            </a:r>
            <a:r>
              <a:rPr sz="2800" spc="-65" dirty="0"/>
              <a:t> </a:t>
            </a:r>
            <a:r>
              <a:rPr sz="2800" dirty="0"/>
              <a:t>Monthly</a:t>
            </a:r>
            <a:r>
              <a:rPr sz="2800" spc="-65" dirty="0"/>
              <a:t> </a:t>
            </a:r>
            <a:r>
              <a:rPr sz="2800" spc="-10" dirty="0"/>
              <a:t>Charges </a:t>
            </a:r>
            <a:r>
              <a:rPr sz="2800" dirty="0"/>
              <a:t>Purpose:</a:t>
            </a:r>
            <a:r>
              <a:rPr sz="2800" spc="-75" dirty="0"/>
              <a:t> </a:t>
            </a:r>
            <a:r>
              <a:rPr sz="2800" dirty="0"/>
              <a:t>Understand</a:t>
            </a:r>
            <a:r>
              <a:rPr sz="2800" spc="-70" dirty="0"/>
              <a:t> </a:t>
            </a:r>
            <a:r>
              <a:rPr sz="2800" dirty="0"/>
              <a:t>customer</a:t>
            </a:r>
            <a:r>
              <a:rPr sz="2800" spc="-70" dirty="0"/>
              <a:t> </a:t>
            </a:r>
            <a:r>
              <a:rPr sz="2800" dirty="0"/>
              <a:t>profile</a:t>
            </a:r>
            <a:r>
              <a:rPr sz="2800" spc="-75" dirty="0"/>
              <a:t> </a:t>
            </a:r>
            <a:r>
              <a:rPr sz="2800" dirty="0"/>
              <a:t>and</a:t>
            </a:r>
            <a:r>
              <a:rPr sz="2800" spc="-70" dirty="0"/>
              <a:t> </a:t>
            </a:r>
            <a:r>
              <a:rPr sz="2800" dirty="0"/>
              <a:t>churn</a:t>
            </a:r>
            <a:r>
              <a:rPr sz="2800" spc="-70" dirty="0"/>
              <a:t> </a:t>
            </a:r>
            <a:r>
              <a:rPr sz="2800" dirty="0"/>
              <a:t>behavior</a:t>
            </a:r>
            <a:r>
              <a:rPr sz="2800" spc="-75" dirty="0"/>
              <a:t> </a:t>
            </a:r>
            <a:r>
              <a:rPr sz="2800" dirty="0"/>
              <a:t>by</a:t>
            </a:r>
            <a:r>
              <a:rPr sz="2800" spc="-70" dirty="0"/>
              <a:t> </a:t>
            </a:r>
            <a:r>
              <a:rPr sz="2800" spc="-10" dirty="0"/>
              <a:t>demographics.</a:t>
            </a:r>
            <a:endParaRPr sz="2800"/>
          </a:p>
        </p:txBody>
      </p:sp>
      <p:sp>
        <p:nvSpPr>
          <p:cNvPr id="11" name="object 11"/>
          <p:cNvSpPr/>
          <p:nvPr/>
        </p:nvSpPr>
        <p:spPr>
          <a:xfrm>
            <a:off x="1028712" y="629009"/>
            <a:ext cx="1571625" cy="1567815"/>
          </a:xfrm>
          <a:custGeom>
            <a:avLst/>
            <a:gdLst/>
            <a:ahLst/>
            <a:cxnLst/>
            <a:rect l="l" t="t" r="r" b="b"/>
            <a:pathLst>
              <a:path w="1571625" h="1567814">
                <a:moveTo>
                  <a:pt x="56892" y="731068"/>
                </a:moveTo>
                <a:lnTo>
                  <a:pt x="56892" y="85456"/>
                </a:lnTo>
                <a:lnTo>
                  <a:pt x="66836" y="44084"/>
                </a:lnTo>
                <a:lnTo>
                  <a:pt x="93473" y="14432"/>
                </a:lnTo>
                <a:lnTo>
                  <a:pt x="132016" y="0"/>
                </a:lnTo>
                <a:lnTo>
                  <a:pt x="177674" y="4286"/>
                </a:lnTo>
                <a:lnTo>
                  <a:pt x="402253" y="71434"/>
                </a:lnTo>
                <a:lnTo>
                  <a:pt x="128635" y="71434"/>
                </a:lnTo>
                <a:lnTo>
                  <a:pt x="128635" y="727513"/>
                </a:lnTo>
                <a:lnTo>
                  <a:pt x="92731" y="727513"/>
                </a:lnTo>
                <a:lnTo>
                  <a:pt x="83709" y="727740"/>
                </a:lnTo>
                <a:lnTo>
                  <a:pt x="74726" y="728409"/>
                </a:lnTo>
                <a:lnTo>
                  <a:pt x="65787" y="729518"/>
                </a:lnTo>
                <a:lnTo>
                  <a:pt x="56892" y="731068"/>
                </a:lnTo>
                <a:close/>
              </a:path>
              <a:path w="1571625" h="1567814">
                <a:moveTo>
                  <a:pt x="1570292" y="1359063"/>
                </a:moveTo>
                <a:lnTo>
                  <a:pt x="1499936" y="1359063"/>
                </a:lnTo>
                <a:lnTo>
                  <a:pt x="1499936" y="517246"/>
                </a:lnTo>
                <a:lnTo>
                  <a:pt x="1496238" y="501119"/>
                </a:lnTo>
                <a:lnTo>
                  <a:pt x="1485993" y="484454"/>
                </a:lnTo>
                <a:lnTo>
                  <a:pt x="1470477" y="469949"/>
                </a:lnTo>
                <a:lnTo>
                  <a:pt x="1450963" y="460302"/>
                </a:lnTo>
                <a:lnTo>
                  <a:pt x="157148" y="73475"/>
                </a:lnTo>
                <a:lnTo>
                  <a:pt x="153029" y="72147"/>
                </a:lnTo>
                <a:lnTo>
                  <a:pt x="148602" y="71434"/>
                </a:lnTo>
                <a:lnTo>
                  <a:pt x="402253" y="71434"/>
                </a:lnTo>
                <a:lnTo>
                  <a:pt x="1470542" y="390849"/>
                </a:lnTo>
                <a:lnTo>
                  <a:pt x="1470697" y="390849"/>
                </a:lnTo>
                <a:lnTo>
                  <a:pt x="1510124" y="410012"/>
                </a:lnTo>
                <a:lnTo>
                  <a:pt x="1541970" y="439828"/>
                </a:lnTo>
                <a:lnTo>
                  <a:pt x="1563260" y="476556"/>
                </a:lnTo>
                <a:lnTo>
                  <a:pt x="1571019" y="516456"/>
                </a:lnTo>
                <a:lnTo>
                  <a:pt x="1571019" y="1344684"/>
                </a:lnTo>
                <a:lnTo>
                  <a:pt x="1571207" y="1350445"/>
                </a:lnTo>
                <a:lnTo>
                  <a:pt x="1570802" y="1356165"/>
                </a:lnTo>
                <a:lnTo>
                  <a:pt x="1570406" y="1358414"/>
                </a:lnTo>
                <a:lnTo>
                  <a:pt x="1570292" y="1359063"/>
                </a:lnTo>
                <a:close/>
              </a:path>
              <a:path w="1571625" h="1567814">
                <a:moveTo>
                  <a:pt x="1471423" y="391113"/>
                </a:moveTo>
                <a:lnTo>
                  <a:pt x="1470542" y="390849"/>
                </a:lnTo>
                <a:lnTo>
                  <a:pt x="1470697" y="390849"/>
                </a:lnTo>
                <a:lnTo>
                  <a:pt x="1471423" y="391113"/>
                </a:lnTo>
                <a:close/>
              </a:path>
              <a:path w="1571625" h="1567814">
                <a:moveTo>
                  <a:pt x="987637" y="1567590"/>
                </a:moveTo>
                <a:lnTo>
                  <a:pt x="987637" y="1566866"/>
                </a:lnTo>
                <a:lnTo>
                  <a:pt x="951551" y="1559587"/>
                </a:lnTo>
                <a:lnTo>
                  <a:pt x="922098" y="1539736"/>
                </a:lnTo>
                <a:lnTo>
                  <a:pt x="902248" y="1510293"/>
                </a:lnTo>
                <a:lnTo>
                  <a:pt x="894972" y="1474241"/>
                </a:lnTo>
                <a:lnTo>
                  <a:pt x="894972" y="612044"/>
                </a:lnTo>
                <a:lnTo>
                  <a:pt x="902286" y="575953"/>
                </a:lnTo>
                <a:lnTo>
                  <a:pt x="922184" y="546492"/>
                </a:lnTo>
                <a:lnTo>
                  <a:pt x="951652" y="526633"/>
                </a:lnTo>
                <a:lnTo>
                  <a:pt x="987637" y="519353"/>
                </a:lnTo>
                <a:lnTo>
                  <a:pt x="1023667" y="526633"/>
                </a:lnTo>
                <a:lnTo>
                  <a:pt x="1053126" y="546492"/>
                </a:lnTo>
                <a:lnTo>
                  <a:pt x="1073007" y="575953"/>
                </a:lnTo>
                <a:lnTo>
                  <a:pt x="1080302" y="612044"/>
                </a:lnTo>
                <a:lnTo>
                  <a:pt x="1080302" y="1474965"/>
                </a:lnTo>
                <a:lnTo>
                  <a:pt x="1073025" y="1511045"/>
                </a:lnTo>
                <a:lnTo>
                  <a:pt x="1053176" y="1540484"/>
                </a:lnTo>
                <a:lnTo>
                  <a:pt x="1023723" y="1560320"/>
                </a:lnTo>
                <a:lnTo>
                  <a:pt x="987637" y="1567590"/>
                </a:lnTo>
                <a:close/>
              </a:path>
              <a:path w="1571625" h="1567814">
                <a:moveTo>
                  <a:pt x="689287" y="1464042"/>
                </a:moveTo>
                <a:lnTo>
                  <a:pt x="688686" y="1464042"/>
                </a:lnTo>
                <a:lnTo>
                  <a:pt x="652620" y="1456767"/>
                </a:lnTo>
                <a:lnTo>
                  <a:pt x="653045" y="1456767"/>
                </a:lnTo>
                <a:lnTo>
                  <a:pt x="623702" y="1436931"/>
                </a:lnTo>
                <a:lnTo>
                  <a:pt x="606187" y="1410952"/>
                </a:lnTo>
                <a:lnTo>
                  <a:pt x="603903" y="1407492"/>
                </a:lnTo>
                <a:lnTo>
                  <a:pt x="596648" y="1371544"/>
                </a:lnTo>
                <a:lnTo>
                  <a:pt x="596648" y="714544"/>
                </a:lnTo>
                <a:lnTo>
                  <a:pt x="603943" y="678464"/>
                </a:lnTo>
                <a:lnTo>
                  <a:pt x="623823" y="649025"/>
                </a:lnTo>
                <a:lnTo>
                  <a:pt x="653283" y="629189"/>
                </a:lnTo>
                <a:lnTo>
                  <a:pt x="689313" y="621918"/>
                </a:lnTo>
                <a:lnTo>
                  <a:pt x="725297" y="629189"/>
                </a:lnTo>
                <a:lnTo>
                  <a:pt x="754766" y="649025"/>
                </a:lnTo>
                <a:lnTo>
                  <a:pt x="774664" y="678464"/>
                </a:lnTo>
                <a:lnTo>
                  <a:pt x="781978" y="714544"/>
                </a:lnTo>
                <a:lnTo>
                  <a:pt x="781951" y="1371544"/>
                </a:lnTo>
                <a:lnTo>
                  <a:pt x="774701" y="1407492"/>
                </a:lnTo>
                <a:lnTo>
                  <a:pt x="754852" y="1436931"/>
                </a:lnTo>
                <a:lnTo>
                  <a:pt x="725399" y="1456767"/>
                </a:lnTo>
                <a:lnTo>
                  <a:pt x="689287" y="1464042"/>
                </a:lnTo>
                <a:close/>
              </a:path>
              <a:path w="1571625" h="1567814">
                <a:moveTo>
                  <a:pt x="390989" y="1366343"/>
                </a:moveTo>
                <a:lnTo>
                  <a:pt x="354903" y="1359063"/>
                </a:lnTo>
                <a:lnTo>
                  <a:pt x="325450" y="1339212"/>
                </a:lnTo>
                <a:lnTo>
                  <a:pt x="305600" y="1309770"/>
                </a:lnTo>
                <a:lnTo>
                  <a:pt x="298324" y="1273718"/>
                </a:lnTo>
                <a:lnTo>
                  <a:pt x="298324" y="812896"/>
                </a:lnTo>
                <a:lnTo>
                  <a:pt x="325450" y="747377"/>
                </a:lnTo>
                <a:lnTo>
                  <a:pt x="390989" y="720271"/>
                </a:lnTo>
                <a:lnTo>
                  <a:pt x="426897" y="727513"/>
                </a:lnTo>
                <a:lnTo>
                  <a:pt x="427029" y="727513"/>
                </a:lnTo>
                <a:lnTo>
                  <a:pt x="456524" y="747377"/>
                </a:lnTo>
                <a:lnTo>
                  <a:pt x="476414" y="776816"/>
                </a:lnTo>
                <a:lnTo>
                  <a:pt x="483720" y="812896"/>
                </a:lnTo>
                <a:lnTo>
                  <a:pt x="483720" y="1273718"/>
                </a:lnTo>
                <a:lnTo>
                  <a:pt x="476429" y="1309770"/>
                </a:lnTo>
                <a:lnTo>
                  <a:pt x="456553" y="1339212"/>
                </a:lnTo>
                <a:lnTo>
                  <a:pt x="427071" y="1359063"/>
                </a:lnTo>
                <a:lnTo>
                  <a:pt x="390989" y="1366343"/>
                </a:lnTo>
                <a:close/>
              </a:path>
              <a:path w="1571625" h="1567814">
                <a:moveTo>
                  <a:pt x="128635" y="731068"/>
                </a:moveTo>
                <a:lnTo>
                  <a:pt x="119725" y="729518"/>
                </a:lnTo>
                <a:lnTo>
                  <a:pt x="110771" y="728409"/>
                </a:lnTo>
                <a:lnTo>
                  <a:pt x="101773" y="727740"/>
                </a:lnTo>
                <a:lnTo>
                  <a:pt x="92731" y="727513"/>
                </a:lnTo>
                <a:lnTo>
                  <a:pt x="128635" y="727513"/>
                </a:lnTo>
                <a:lnTo>
                  <a:pt x="128635" y="731068"/>
                </a:lnTo>
                <a:close/>
              </a:path>
              <a:path w="1571625" h="1567814">
                <a:moveTo>
                  <a:pt x="92978" y="1266281"/>
                </a:moveTo>
                <a:lnTo>
                  <a:pt x="92678" y="1266281"/>
                </a:lnTo>
                <a:lnTo>
                  <a:pt x="56607" y="1258999"/>
                </a:lnTo>
                <a:lnTo>
                  <a:pt x="27151" y="1239148"/>
                </a:lnTo>
                <a:lnTo>
                  <a:pt x="7285" y="1209706"/>
                </a:lnTo>
                <a:lnTo>
                  <a:pt x="0" y="1173654"/>
                </a:lnTo>
                <a:lnTo>
                  <a:pt x="0" y="912763"/>
                </a:lnTo>
                <a:lnTo>
                  <a:pt x="7295" y="876711"/>
                </a:lnTo>
                <a:lnTo>
                  <a:pt x="27175" y="847268"/>
                </a:lnTo>
                <a:lnTo>
                  <a:pt x="56634" y="827417"/>
                </a:lnTo>
                <a:lnTo>
                  <a:pt x="92665" y="820138"/>
                </a:lnTo>
                <a:lnTo>
                  <a:pt x="98539" y="820138"/>
                </a:lnTo>
                <a:lnTo>
                  <a:pt x="139090" y="832473"/>
                </a:lnTo>
                <a:lnTo>
                  <a:pt x="173095" y="866440"/>
                </a:lnTo>
                <a:lnTo>
                  <a:pt x="185383" y="906690"/>
                </a:lnTo>
                <a:lnTo>
                  <a:pt x="185396" y="1173654"/>
                </a:lnTo>
                <a:lnTo>
                  <a:pt x="178113" y="1209706"/>
                </a:lnTo>
                <a:lnTo>
                  <a:pt x="158256" y="1239148"/>
                </a:lnTo>
                <a:lnTo>
                  <a:pt x="128831" y="1258999"/>
                </a:lnTo>
                <a:lnTo>
                  <a:pt x="129059" y="1258999"/>
                </a:lnTo>
                <a:lnTo>
                  <a:pt x="92978" y="1266281"/>
                </a:lnTo>
                <a:close/>
              </a:path>
              <a:path w="1571625" h="1567814">
                <a:moveTo>
                  <a:pt x="1489208" y="1431186"/>
                </a:moveTo>
                <a:lnTo>
                  <a:pt x="1450237" y="1425855"/>
                </a:lnTo>
                <a:lnTo>
                  <a:pt x="1173033" y="1342709"/>
                </a:lnTo>
                <a:lnTo>
                  <a:pt x="1173033" y="1267991"/>
                </a:lnTo>
                <a:lnTo>
                  <a:pt x="1471489" y="1357061"/>
                </a:lnTo>
                <a:lnTo>
                  <a:pt x="1475582" y="1358414"/>
                </a:lnTo>
                <a:lnTo>
                  <a:pt x="1479592" y="1359063"/>
                </a:lnTo>
                <a:lnTo>
                  <a:pt x="1570292" y="1359063"/>
                </a:lnTo>
                <a:lnTo>
                  <a:pt x="1568806" y="1367519"/>
                </a:lnTo>
                <a:lnTo>
                  <a:pt x="1550241" y="1402853"/>
                </a:lnTo>
                <a:lnTo>
                  <a:pt x="1511905" y="1427517"/>
                </a:lnTo>
                <a:lnTo>
                  <a:pt x="1494947" y="1430856"/>
                </a:lnTo>
                <a:lnTo>
                  <a:pt x="1489208" y="14311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90340" algn="l"/>
              </a:tabLst>
            </a:pPr>
            <a:r>
              <a:rPr spc="-10" dirty="0"/>
              <a:t>Dashboard</a:t>
            </a:r>
            <a:r>
              <a:rPr dirty="0"/>
              <a:t>	</a:t>
            </a:r>
            <a:r>
              <a:rPr spc="-10" dirty="0"/>
              <a:t>Visualizations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347725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403923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460120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516318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4936" y="5725159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6287134"/>
            <a:ext cx="104774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4936" y="6849109"/>
            <a:ext cx="104774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7411084"/>
            <a:ext cx="104774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598861" y="2377934"/>
            <a:ext cx="13695680" cy="5269865"/>
          </a:xfrm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3500" b="1" dirty="0">
                <a:latin typeface="Times New Roman"/>
                <a:cs typeface="Times New Roman"/>
              </a:rPr>
              <a:t>2.</a:t>
            </a:r>
            <a:r>
              <a:rPr sz="3500" b="1" spc="-90" dirty="0">
                <a:latin typeface="Times New Roman"/>
                <a:cs typeface="Times New Roman"/>
              </a:rPr>
              <a:t> </a:t>
            </a:r>
            <a:r>
              <a:rPr sz="3500" b="1" dirty="0">
                <a:latin typeface="Times New Roman"/>
                <a:cs typeface="Times New Roman"/>
              </a:rPr>
              <a:t>Service</a:t>
            </a:r>
            <a:r>
              <a:rPr sz="3500" b="1" spc="-90" dirty="0">
                <a:latin typeface="Times New Roman"/>
                <a:cs typeface="Times New Roman"/>
              </a:rPr>
              <a:t> </a:t>
            </a:r>
            <a:r>
              <a:rPr sz="3500" b="1" dirty="0">
                <a:latin typeface="Times New Roman"/>
                <a:cs typeface="Times New Roman"/>
              </a:rPr>
              <a:t>Subscription</a:t>
            </a:r>
            <a:r>
              <a:rPr sz="3500" b="1" spc="-85" dirty="0">
                <a:latin typeface="Times New Roman"/>
                <a:cs typeface="Times New Roman"/>
              </a:rPr>
              <a:t> </a:t>
            </a:r>
            <a:r>
              <a:rPr sz="3500" b="1" spc="-10" dirty="0">
                <a:latin typeface="Times New Roman"/>
                <a:cs typeface="Times New Roman"/>
              </a:rPr>
              <a:t>Dashboard</a:t>
            </a:r>
            <a:endParaRPr sz="3500">
              <a:latin typeface="Times New Roman"/>
              <a:cs typeface="Times New Roman"/>
            </a:endParaRPr>
          </a:p>
          <a:p>
            <a:pPr marL="616585">
              <a:lnSpc>
                <a:spcPct val="100000"/>
              </a:lnSpc>
              <a:spcBef>
                <a:spcPts val="1225"/>
              </a:spcBef>
            </a:pPr>
            <a:r>
              <a:rPr sz="2800" b="1" dirty="0">
                <a:latin typeface="Times New Roman"/>
                <a:cs typeface="Times New Roman"/>
              </a:rPr>
              <a:t>Visuals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Used:</a:t>
            </a:r>
            <a:endParaRPr sz="2800">
              <a:latin typeface="Times New Roman"/>
              <a:cs typeface="Times New Roman"/>
            </a:endParaRPr>
          </a:p>
          <a:p>
            <a:pPr marL="616585">
              <a:lnSpc>
                <a:spcPct val="100000"/>
              </a:lnSpc>
              <a:spcBef>
                <a:spcPts val="1065"/>
              </a:spcBef>
            </a:pPr>
            <a:r>
              <a:rPr sz="2800" b="1" dirty="0">
                <a:latin typeface="Times New Roman"/>
                <a:cs typeface="Times New Roman"/>
              </a:rPr>
              <a:t>Stacked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Column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→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Phone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service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internet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service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usage</a:t>
            </a:r>
            <a:endParaRPr sz="2800">
              <a:latin typeface="Times New Roman"/>
              <a:cs typeface="Times New Roman"/>
            </a:endParaRPr>
          </a:p>
          <a:p>
            <a:pPr marL="616585" marR="5080">
              <a:lnSpc>
                <a:spcPct val="131700"/>
              </a:lnSpc>
            </a:pPr>
            <a:r>
              <a:rPr sz="2800" b="1" dirty="0">
                <a:latin typeface="Times New Roman"/>
                <a:cs typeface="Times New Roman"/>
              </a:rPr>
              <a:t>Funnel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Chart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→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Churn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rate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by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Internet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Service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Type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(DSL,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Fiber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Optic,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No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Internet) </a:t>
            </a:r>
            <a:r>
              <a:rPr sz="2800" b="1" dirty="0">
                <a:latin typeface="Times New Roman"/>
                <a:cs typeface="Times New Roman"/>
              </a:rPr>
              <a:t>Clustered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Bar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Chart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→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Add-</a:t>
            </a:r>
            <a:r>
              <a:rPr sz="2800" b="1" dirty="0">
                <a:latin typeface="Times New Roman"/>
                <a:cs typeface="Times New Roman"/>
              </a:rPr>
              <a:t>on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service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usage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by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churned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customers</a:t>
            </a:r>
            <a:endParaRPr sz="2800">
              <a:latin typeface="Times New Roman"/>
              <a:cs typeface="Times New Roman"/>
            </a:endParaRPr>
          </a:p>
          <a:p>
            <a:pPr marL="616585" marR="3027680">
              <a:lnSpc>
                <a:spcPct val="131700"/>
              </a:lnSpc>
            </a:pPr>
            <a:r>
              <a:rPr sz="2800" b="1" dirty="0">
                <a:latin typeface="Times New Roman"/>
                <a:cs typeface="Times New Roman"/>
              </a:rPr>
              <a:t>Scatter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Plot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→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Correlation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between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number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services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churn </a:t>
            </a:r>
            <a:r>
              <a:rPr sz="2800" b="1" dirty="0">
                <a:latin typeface="Times New Roman"/>
                <a:cs typeface="Times New Roman"/>
              </a:rPr>
              <a:t>Pie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Chart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→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Fiber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vs.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DSL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vs.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No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Internet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customers</a:t>
            </a:r>
            <a:endParaRPr sz="2800">
              <a:latin typeface="Times New Roman"/>
              <a:cs typeface="Times New Roman"/>
            </a:endParaRPr>
          </a:p>
          <a:p>
            <a:pPr marL="616585" marR="1751330">
              <a:lnSpc>
                <a:spcPct val="131700"/>
              </a:lnSpc>
            </a:pPr>
            <a:r>
              <a:rPr sz="2800" b="1" dirty="0">
                <a:latin typeface="Times New Roman"/>
                <a:cs typeface="Times New Roman"/>
              </a:rPr>
              <a:t>Slicers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→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Gender,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Senior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Citizen,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Internet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Service,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Contract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Type </a:t>
            </a:r>
            <a:r>
              <a:rPr sz="2800" b="1" dirty="0">
                <a:latin typeface="Times New Roman"/>
                <a:cs typeface="Times New Roman"/>
              </a:rPr>
              <a:t>Purpose: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Identify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which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services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combinations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impact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churn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most.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28712" y="629009"/>
            <a:ext cx="1571625" cy="1567815"/>
          </a:xfrm>
          <a:custGeom>
            <a:avLst/>
            <a:gdLst/>
            <a:ahLst/>
            <a:cxnLst/>
            <a:rect l="l" t="t" r="r" b="b"/>
            <a:pathLst>
              <a:path w="1571625" h="1567814">
                <a:moveTo>
                  <a:pt x="56892" y="731068"/>
                </a:moveTo>
                <a:lnTo>
                  <a:pt x="56892" y="85456"/>
                </a:lnTo>
                <a:lnTo>
                  <a:pt x="66836" y="44084"/>
                </a:lnTo>
                <a:lnTo>
                  <a:pt x="93473" y="14432"/>
                </a:lnTo>
                <a:lnTo>
                  <a:pt x="132016" y="0"/>
                </a:lnTo>
                <a:lnTo>
                  <a:pt x="177674" y="4286"/>
                </a:lnTo>
                <a:lnTo>
                  <a:pt x="402253" y="71434"/>
                </a:lnTo>
                <a:lnTo>
                  <a:pt x="128635" y="71434"/>
                </a:lnTo>
                <a:lnTo>
                  <a:pt x="128635" y="727513"/>
                </a:lnTo>
                <a:lnTo>
                  <a:pt x="92731" y="727513"/>
                </a:lnTo>
                <a:lnTo>
                  <a:pt x="83709" y="727740"/>
                </a:lnTo>
                <a:lnTo>
                  <a:pt x="74726" y="728409"/>
                </a:lnTo>
                <a:lnTo>
                  <a:pt x="65787" y="729518"/>
                </a:lnTo>
                <a:lnTo>
                  <a:pt x="56892" y="731068"/>
                </a:lnTo>
                <a:close/>
              </a:path>
              <a:path w="1571625" h="1567814">
                <a:moveTo>
                  <a:pt x="1570292" y="1359063"/>
                </a:moveTo>
                <a:lnTo>
                  <a:pt x="1499936" y="1359063"/>
                </a:lnTo>
                <a:lnTo>
                  <a:pt x="1499936" y="517246"/>
                </a:lnTo>
                <a:lnTo>
                  <a:pt x="1496238" y="501119"/>
                </a:lnTo>
                <a:lnTo>
                  <a:pt x="1485993" y="484454"/>
                </a:lnTo>
                <a:lnTo>
                  <a:pt x="1470477" y="469949"/>
                </a:lnTo>
                <a:lnTo>
                  <a:pt x="1450963" y="460302"/>
                </a:lnTo>
                <a:lnTo>
                  <a:pt x="157148" y="73475"/>
                </a:lnTo>
                <a:lnTo>
                  <a:pt x="153029" y="72147"/>
                </a:lnTo>
                <a:lnTo>
                  <a:pt x="148602" y="71434"/>
                </a:lnTo>
                <a:lnTo>
                  <a:pt x="402253" y="71434"/>
                </a:lnTo>
                <a:lnTo>
                  <a:pt x="1470542" y="390849"/>
                </a:lnTo>
                <a:lnTo>
                  <a:pt x="1470697" y="390849"/>
                </a:lnTo>
                <a:lnTo>
                  <a:pt x="1510124" y="410012"/>
                </a:lnTo>
                <a:lnTo>
                  <a:pt x="1541970" y="439828"/>
                </a:lnTo>
                <a:lnTo>
                  <a:pt x="1563260" y="476556"/>
                </a:lnTo>
                <a:lnTo>
                  <a:pt x="1571019" y="516456"/>
                </a:lnTo>
                <a:lnTo>
                  <a:pt x="1571019" y="1344684"/>
                </a:lnTo>
                <a:lnTo>
                  <a:pt x="1571207" y="1350445"/>
                </a:lnTo>
                <a:lnTo>
                  <a:pt x="1570802" y="1356165"/>
                </a:lnTo>
                <a:lnTo>
                  <a:pt x="1570406" y="1358414"/>
                </a:lnTo>
                <a:lnTo>
                  <a:pt x="1570292" y="1359063"/>
                </a:lnTo>
                <a:close/>
              </a:path>
              <a:path w="1571625" h="1567814">
                <a:moveTo>
                  <a:pt x="1471423" y="391113"/>
                </a:moveTo>
                <a:lnTo>
                  <a:pt x="1470542" y="390849"/>
                </a:lnTo>
                <a:lnTo>
                  <a:pt x="1470697" y="390849"/>
                </a:lnTo>
                <a:lnTo>
                  <a:pt x="1471423" y="391113"/>
                </a:lnTo>
                <a:close/>
              </a:path>
              <a:path w="1571625" h="1567814">
                <a:moveTo>
                  <a:pt x="987637" y="1567590"/>
                </a:moveTo>
                <a:lnTo>
                  <a:pt x="987637" y="1566866"/>
                </a:lnTo>
                <a:lnTo>
                  <a:pt x="951551" y="1559587"/>
                </a:lnTo>
                <a:lnTo>
                  <a:pt x="922098" y="1539736"/>
                </a:lnTo>
                <a:lnTo>
                  <a:pt x="902248" y="1510293"/>
                </a:lnTo>
                <a:lnTo>
                  <a:pt x="894972" y="1474241"/>
                </a:lnTo>
                <a:lnTo>
                  <a:pt x="894972" y="612044"/>
                </a:lnTo>
                <a:lnTo>
                  <a:pt x="902286" y="575953"/>
                </a:lnTo>
                <a:lnTo>
                  <a:pt x="922184" y="546492"/>
                </a:lnTo>
                <a:lnTo>
                  <a:pt x="951652" y="526633"/>
                </a:lnTo>
                <a:lnTo>
                  <a:pt x="987637" y="519353"/>
                </a:lnTo>
                <a:lnTo>
                  <a:pt x="1023667" y="526633"/>
                </a:lnTo>
                <a:lnTo>
                  <a:pt x="1053126" y="546492"/>
                </a:lnTo>
                <a:lnTo>
                  <a:pt x="1073007" y="575953"/>
                </a:lnTo>
                <a:lnTo>
                  <a:pt x="1080302" y="612044"/>
                </a:lnTo>
                <a:lnTo>
                  <a:pt x="1080302" y="1474965"/>
                </a:lnTo>
                <a:lnTo>
                  <a:pt x="1073025" y="1511045"/>
                </a:lnTo>
                <a:lnTo>
                  <a:pt x="1053176" y="1540484"/>
                </a:lnTo>
                <a:lnTo>
                  <a:pt x="1023723" y="1560320"/>
                </a:lnTo>
                <a:lnTo>
                  <a:pt x="987637" y="1567590"/>
                </a:lnTo>
                <a:close/>
              </a:path>
              <a:path w="1571625" h="1567814">
                <a:moveTo>
                  <a:pt x="689287" y="1464042"/>
                </a:moveTo>
                <a:lnTo>
                  <a:pt x="688686" y="1464042"/>
                </a:lnTo>
                <a:lnTo>
                  <a:pt x="652620" y="1456767"/>
                </a:lnTo>
                <a:lnTo>
                  <a:pt x="653045" y="1456767"/>
                </a:lnTo>
                <a:lnTo>
                  <a:pt x="623702" y="1436931"/>
                </a:lnTo>
                <a:lnTo>
                  <a:pt x="606187" y="1410952"/>
                </a:lnTo>
                <a:lnTo>
                  <a:pt x="603903" y="1407492"/>
                </a:lnTo>
                <a:lnTo>
                  <a:pt x="596648" y="1371544"/>
                </a:lnTo>
                <a:lnTo>
                  <a:pt x="596648" y="714544"/>
                </a:lnTo>
                <a:lnTo>
                  <a:pt x="603943" y="678464"/>
                </a:lnTo>
                <a:lnTo>
                  <a:pt x="623823" y="649025"/>
                </a:lnTo>
                <a:lnTo>
                  <a:pt x="653283" y="629189"/>
                </a:lnTo>
                <a:lnTo>
                  <a:pt x="689313" y="621918"/>
                </a:lnTo>
                <a:lnTo>
                  <a:pt x="725297" y="629189"/>
                </a:lnTo>
                <a:lnTo>
                  <a:pt x="754766" y="649025"/>
                </a:lnTo>
                <a:lnTo>
                  <a:pt x="774664" y="678464"/>
                </a:lnTo>
                <a:lnTo>
                  <a:pt x="781978" y="714544"/>
                </a:lnTo>
                <a:lnTo>
                  <a:pt x="781951" y="1371544"/>
                </a:lnTo>
                <a:lnTo>
                  <a:pt x="774701" y="1407492"/>
                </a:lnTo>
                <a:lnTo>
                  <a:pt x="754852" y="1436931"/>
                </a:lnTo>
                <a:lnTo>
                  <a:pt x="725399" y="1456767"/>
                </a:lnTo>
                <a:lnTo>
                  <a:pt x="689287" y="1464042"/>
                </a:lnTo>
                <a:close/>
              </a:path>
              <a:path w="1571625" h="1567814">
                <a:moveTo>
                  <a:pt x="390989" y="1366343"/>
                </a:moveTo>
                <a:lnTo>
                  <a:pt x="354903" y="1359063"/>
                </a:lnTo>
                <a:lnTo>
                  <a:pt x="325450" y="1339212"/>
                </a:lnTo>
                <a:lnTo>
                  <a:pt x="305600" y="1309770"/>
                </a:lnTo>
                <a:lnTo>
                  <a:pt x="298324" y="1273718"/>
                </a:lnTo>
                <a:lnTo>
                  <a:pt x="298324" y="812896"/>
                </a:lnTo>
                <a:lnTo>
                  <a:pt x="325450" y="747377"/>
                </a:lnTo>
                <a:lnTo>
                  <a:pt x="390989" y="720271"/>
                </a:lnTo>
                <a:lnTo>
                  <a:pt x="426897" y="727513"/>
                </a:lnTo>
                <a:lnTo>
                  <a:pt x="427029" y="727513"/>
                </a:lnTo>
                <a:lnTo>
                  <a:pt x="456524" y="747377"/>
                </a:lnTo>
                <a:lnTo>
                  <a:pt x="476414" y="776816"/>
                </a:lnTo>
                <a:lnTo>
                  <a:pt x="483720" y="812896"/>
                </a:lnTo>
                <a:lnTo>
                  <a:pt x="483720" y="1273718"/>
                </a:lnTo>
                <a:lnTo>
                  <a:pt x="476429" y="1309770"/>
                </a:lnTo>
                <a:lnTo>
                  <a:pt x="456553" y="1339212"/>
                </a:lnTo>
                <a:lnTo>
                  <a:pt x="427071" y="1359063"/>
                </a:lnTo>
                <a:lnTo>
                  <a:pt x="390989" y="1366343"/>
                </a:lnTo>
                <a:close/>
              </a:path>
              <a:path w="1571625" h="1567814">
                <a:moveTo>
                  <a:pt x="128635" y="731068"/>
                </a:moveTo>
                <a:lnTo>
                  <a:pt x="119725" y="729518"/>
                </a:lnTo>
                <a:lnTo>
                  <a:pt x="110771" y="728409"/>
                </a:lnTo>
                <a:lnTo>
                  <a:pt x="101773" y="727740"/>
                </a:lnTo>
                <a:lnTo>
                  <a:pt x="92731" y="727513"/>
                </a:lnTo>
                <a:lnTo>
                  <a:pt x="128635" y="727513"/>
                </a:lnTo>
                <a:lnTo>
                  <a:pt x="128635" y="731068"/>
                </a:lnTo>
                <a:close/>
              </a:path>
              <a:path w="1571625" h="1567814">
                <a:moveTo>
                  <a:pt x="92978" y="1266281"/>
                </a:moveTo>
                <a:lnTo>
                  <a:pt x="92678" y="1266281"/>
                </a:lnTo>
                <a:lnTo>
                  <a:pt x="56607" y="1258999"/>
                </a:lnTo>
                <a:lnTo>
                  <a:pt x="27151" y="1239148"/>
                </a:lnTo>
                <a:lnTo>
                  <a:pt x="7285" y="1209706"/>
                </a:lnTo>
                <a:lnTo>
                  <a:pt x="0" y="1173654"/>
                </a:lnTo>
                <a:lnTo>
                  <a:pt x="0" y="912763"/>
                </a:lnTo>
                <a:lnTo>
                  <a:pt x="7295" y="876711"/>
                </a:lnTo>
                <a:lnTo>
                  <a:pt x="27175" y="847268"/>
                </a:lnTo>
                <a:lnTo>
                  <a:pt x="56634" y="827417"/>
                </a:lnTo>
                <a:lnTo>
                  <a:pt x="92665" y="820138"/>
                </a:lnTo>
                <a:lnTo>
                  <a:pt x="98539" y="820138"/>
                </a:lnTo>
                <a:lnTo>
                  <a:pt x="139090" y="832473"/>
                </a:lnTo>
                <a:lnTo>
                  <a:pt x="173095" y="866440"/>
                </a:lnTo>
                <a:lnTo>
                  <a:pt x="185383" y="906690"/>
                </a:lnTo>
                <a:lnTo>
                  <a:pt x="185396" y="1173654"/>
                </a:lnTo>
                <a:lnTo>
                  <a:pt x="178113" y="1209706"/>
                </a:lnTo>
                <a:lnTo>
                  <a:pt x="158256" y="1239148"/>
                </a:lnTo>
                <a:lnTo>
                  <a:pt x="128831" y="1258999"/>
                </a:lnTo>
                <a:lnTo>
                  <a:pt x="129059" y="1258999"/>
                </a:lnTo>
                <a:lnTo>
                  <a:pt x="92978" y="1266281"/>
                </a:lnTo>
                <a:close/>
              </a:path>
              <a:path w="1571625" h="1567814">
                <a:moveTo>
                  <a:pt x="1489208" y="1431186"/>
                </a:moveTo>
                <a:lnTo>
                  <a:pt x="1450237" y="1425855"/>
                </a:lnTo>
                <a:lnTo>
                  <a:pt x="1173033" y="1342709"/>
                </a:lnTo>
                <a:lnTo>
                  <a:pt x="1173033" y="1267991"/>
                </a:lnTo>
                <a:lnTo>
                  <a:pt x="1471489" y="1357061"/>
                </a:lnTo>
                <a:lnTo>
                  <a:pt x="1475582" y="1358414"/>
                </a:lnTo>
                <a:lnTo>
                  <a:pt x="1479592" y="1359063"/>
                </a:lnTo>
                <a:lnTo>
                  <a:pt x="1570292" y="1359063"/>
                </a:lnTo>
                <a:lnTo>
                  <a:pt x="1568806" y="1367519"/>
                </a:lnTo>
                <a:lnTo>
                  <a:pt x="1550241" y="1402853"/>
                </a:lnTo>
                <a:lnTo>
                  <a:pt x="1511905" y="1427517"/>
                </a:lnTo>
                <a:lnTo>
                  <a:pt x="1494947" y="1430856"/>
                </a:lnTo>
                <a:lnTo>
                  <a:pt x="1489208" y="14311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90340" algn="l"/>
              </a:tabLst>
            </a:pPr>
            <a:r>
              <a:rPr spc="-10" dirty="0"/>
              <a:t>Dashboard</a:t>
            </a:r>
            <a:r>
              <a:rPr dirty="0"/>
              <a:t>	</a:t>
            </a:r>
            <a:r>
              <a:rPr spc="-10" dirty="0"/>
              <a:t>Visualizations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347725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403923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460120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516318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4936" y="5725159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6287134"/>
            <a:ext cx="104774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4936" y="6849109"/>
            <a:ext cx="104774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7411084"/>
            <a:ext cx="104774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598861" y="2377934"/>
            <a:ext cx="14545944" cy="5269865"/>
          </a:xfrm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z="3500" b="1" dirty="0">
                <a:latin typeface="Times New Roman"/>
                <a:cs typeface="Times New Roman"/>
              </a:rPr>
              <a:t>3.</a:t>
            </a:r>
            <a:r>
              <a:rPr sz="3500" b="1" spc="-50" dirty="0">
                <a:latin typeface="Times New Roman"/>
                <a:cs typeface="Times New Roman"/>
              </a:rPr>
              <a:t> </a:t>
            </a:r>
            <a:r>
              <a:rPr sz="3500" b="1" dirty="0">
                <a:latin typeface="Times New Roman"/>
                <a:cs typeface="Times New Roman"/>
              </a:rPr>
              <a:t>Contract</a:t>
            </a:r>
            <a:r>
              <a:rPr sz="3500" b="1" spc="-50" dirty="0">
                <a:latin typeface="Times New Roman"/>
                <a:cs typeface="Times New Roman"/>
              </a:rPr>
              <a:t> </a:t>
            </a:r>
            <a:r>
              <a:rPr sz="3500" b="1" dirty="0">
                <a:latin typeface="Times New Roman"/>
                <a:cs typeface="Times New Roman"/>
              </a:rPr>
              <a:t>&amp;</a:t>
            </a:r>
            <a:r>
              <a:rPr sz="3500" b="1" spc="-45" dirty="0">
                <a:latin typeface="Times New Roman"/>
                <a:cs typeface="Times New Roman"/>
              </a:rPr>
              <a:t> </a:t>
            </a:r>
            <a:r>
              <a:rPr sz="3500" b="1" dirty="0">
                <a:latin typeface="Times New Roman"/>
                <a:cs typeface="Times New Roman"/>
              </a:rPr>
              <a:t>Billing</a:t>
            </a:r>
            <a:r>
              <a:rPr sz="3500" b="1" spc="-50" dirty="0">
                <a:latin typeface="Times New Roman"/>
                <a:cs typeface="Times New Roman"/>
              </a:rPr>
              <a:t> </a:t>
            </a:r>
            <a:r>
              <a:rPr sz="3500" b="1" spc="-10" dirty="0">
                <a:latin typeface="Times New Roman"/>
                <a:cs typeface="Times New Roman"/>
              </a:rPr>
              <a:t>Dashboard</a:t>
            </a:r>
            <a:endParaRPr sz="3500">
              <a:latin typeface="Times New Roman"/>
              <a:cs typeface="Times New Roman"/>
            </a:endParaRPr>
          </a:p>
          <a:p>
            <a:pPr marL="616585">
              <a:lnSpc>
                <a:spcPct val="100000"/>
              </a:lnSpc>
              <a:spcBef>
                <a:spcPts val="1225"/>
              </a:spcBef>
            </a:pPr>
            <a:r>
              <a:rPr sz="2800" b="1" dirty="0">
                <a:latin typeface="Times New Roman"/>
                <a:cs typeface="Times New Roman"/>
              </a:rPr>
              <a:t>Visuals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Used:</a:t>
            </a:r>
            <a:endParaRPr sz="2800">
              <a:latin typeface="Times New Roman"/>
              <a:cs typeface="Times New Roman"/>
            </a:endParaRPr>
          </a:p>
          <a:p>
            <a:pPr marL="616585" marR="1981200">
              <a:lnSpc>
                <a:spcPct val="131700"/>
              </a:lnSpc>
            </a:pPr>
            <a:r>
              <a:rPr sz="2800" b="1" dirty="0">
                <a:latin typeface="Times New Roman"/>
                <a:cs typeface="Times New Roman"/>
              </a:rPr>
              <a:t>Bar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Chart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→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Churn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by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Contract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Type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(Month-</a:t>
            </a:r>
            <a:r>
              <a:rPr sz="2800" b="1" spc="-10" dirty="0">
                <a:latin typeface="Times New Roman"/>
                <a:cs typeface="Times New Roman"/>
              </a:rPr>
              <a:t>to-</a:t>
            </a:r>
            <a:r>
              <a:rPr sz="2800" b="1" dirty="0">
                <a:latin typeface="Times New Roman"/>
                <a:cs typeface="Times New Roman"/>
              </a:rPr>
              <a:t>month,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One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year,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Two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year) </a:t>
            </a:r>
            <a:r>
              <a:rPr sz="2800" b="1" dirty="0">
                <a:latin typeface="Times New Roman"/>
                <a:cs typeface="Times New Roman"/>
              </a:rPr>
              <a:t>Donut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Chart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→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Payment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Method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distribution</a:t>
            </a:r>
            <a:endParaRPr sz="2800">
              <a:latin typeface="Times New Roman"/>
              <a:cs typeface="Times New Roman"/>
            </a:endParaRPr>
          </a:p>
          <a:p>
            <a:pPr marL="616585" marR="3866515">
              <a:lnSpc>
                <a:spcPct val="131700"/>
              </a:lnSpc>
            </a:pPr>
            <a:r>
              <a:rPr sz="2800" b="1" dirty="0">
                <a:latin typeface="Times New Roman"/>
                <a:cs typeface="Times New Roman"/>
              </a:rPr>
              <a:t>Clustered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Column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Chart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→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Avg.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Total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Charges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by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Contract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Type </a:t>
            </a:r>
            <a:r>
              <a:rPr sz="2800" b="1" dirty="0">
                <a:latin typeface="Times New Roman"/>
                <a:cs typeface="Times New Roman"/>
              </a:rPr>
              <a:t>Line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→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Monthly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Charges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by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Payment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Method </a:t>
            </a:r>
            <a:r>
              <a:rPr sz="2800" b="1" dirty="0">
                <a:latin typeface="Times New Roman"/>
                <a:cs typeface="Times New Roman"/>
              </a:rPr>
              <a:t>Matrix/Table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→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Billing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KPIs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by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Contract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Type</a:t>
            </a:r>
            <a:endParaRPr sz="2800">
              <a:latin typeface="Times New Roman"/>
              <a:cs typeface="Times New Roman"/>
            </a:endParaRPr>
          </a:p>
          <a:p>
            <a:pPr marL="616585" marR="5080">
              <a:lnSpc>
                <a:spcPct val="131700"/>
              </a:lnSpc>
            </a:pPr>
            <a:r>
              <a:rPr sz="2800" b="1" dirty="0">
                <a:latin typeface="Times New Roman"/>
                <a:cs typeface="Times New Roman"/>
              </a:rPr>
              <a:t>Cards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→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Avg.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Monthly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Charge,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Avg.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Total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Charge,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Churn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Rate,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Total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Churned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Customers </a:t>
            </a:r>
            <a:r>
              <a:rPr sz="2800" b="1" dirty="0">
                <a:latin typeface="Times New Roman"/>
                <a:cs typeface="Times New Roman"/>
              </a:rPr>
              <a:t>Purpose: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Analyze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billing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behavior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contractual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patterns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influencing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churn.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28712" y="629009"/>
            <a:ext cx="1571625" cy="1567815"/>
          </a:xfrm>
          <a:custGeom>
            <a:avLst/>
            <a:gdLst/>
            <a:ahLst/>
            <a:cxnLst/>
            <a:rect l="l" t="t" r="r" b="b"/>
            <a:pathLst>
              <a:path w="1571625" h="1567814">
                <a:moveTo>
                  <a:pt x="56892" y="731068"/>
                </a:moveTo>
                <a:lnTo>
                  <a:pt x="56892" y="85456"/>
                </a:lnTo>
                <a:lnTo>
                  <a:pt x="66836" y="44084"/>
                </a:lnTo>
                <a:lnTo>
                  <a:pt x="93473" y="14432"/>
                </a:lnTo>
                <a:lnTo>
                  <a:pt x="132016" y="0"/>
                </a:lnTo>
                <a:lnTo>
                  <a:pt x="177674" y="4286"/>
                </a:lnTo>
                <a:lnTo>
                  <a:pt x="402253" y="71434"/>
                </a:lnTo>
                <a:lnTo>
                  <a:pt x="128635" y="71434"/>
                </a:lnTo>
                <a:lnTo>
                  <a:pt x="128635" y="727513"/>
                </a:lnTo>
                <a:lnTo>
                  <a:pt x="92731" y="727513"/>
                </a:lnTo>
                <a:lnTo>
                  <a:pt x="83709" y="727740"/>
                </a:lnTo>
                <a:lnTo>
                  <a:pt x="74726" y="728409"/>
                </a:lnTo>
                <a:lnTo>
                  <a:pt x="65787" y="729518"/>
                </a:lnTo>
                <a:lnTo>
                  <a:pt x="56892" y="731068"/>
                </a:lnTo>
                <a:close/>
              </a:path>
              <a:path w="1571625" h="1567814">
                <a:moveTo>
                  <a:pt x="1570292" y="1359063"/>
                </a:moveTo>
                <a:lnTo>
                  <a:pt x="1499936" y="1359063"/>
                </a:lnTo>
                <a:lnTo>
                  <a:pt x="1499936" y="517246"/>
                </a:lnTo>
                <a:lnTo>
                  <a:pt x="1496238" y="501119"/>
                </a:lnTo>
                <a:lnTo>
                  <a:pt x="1485993" y="484454"/>
                </a:lnTo>
                <a:lnTo>
                  <a:pt x="1470477" y="469949"/>
                </a:lnTo>
                <a:lnTo>
                  <a:pt x="1450963" y="460302"/>
                </a:lnTo>
                <a:lnTo>
                  <a:pt x="157148" y="73475"/>
                </a:lnTo>
                <a:lnTo>
                  <a:pt x="153029" y="72147"/>
                </a:lnTo>
                <a:lnTo>
                  <a:pt x="148602" y="71434"/>
                </a:lnTo>
                <a:lnTo>
                  <a:pt x="402253" y="71434"/>
                </a:lnTo>
                <a:lnTo>
                  <a:pt x="1470542" y="390849"/>
                </a:lnTo>
                <a:lnTo>
                  <a:pt x="1470697" y="390849"/>
                </a:lnTo>
                <a:lnTo>
                  <a:pt x="1510124" y="410012"/>
                </a:lnTo>
                <a:lnTo>
                  <a:pt x="1541970" y="439828"/>
                </a:lnTo>
                <a:lnTo>
                  <a:pt x="1563260" y="476556"/>
                </a:lnTo>
                <a:lnTo>
                  <a:pt x="1571019" y="516456"/>
                </a:lnTo>
                <a:lnTo>
                  <a:pt x="1571019" y="1344684"/>
                </a:lnTo>
                <a:lnTo>
                  <a:pt x="1571207" y="1350445"/>
                </a:lnTo>
                <a:lnTo>
                  <a:pt x="1570802" y="1356165"/>
                </a:lnTo>
                <a:lnTo>
                  <a:pt x="1570406" y="1358414"/>
                </a:lnTo>
                <a:lnTo>
                  <a:pt x="1570292" y="1359063"/>
                </a:lnTo>
                <a:close/>
              </a:path>
              <a:path w="1571625" h="1567814">
                <a:moveTo>
                  <a:pt x="1471423" y="391113"/>
                </a:moveTo>
                <a:lnTo>
                  <a:pt x="1470542" y="390849"/>
                </a:lnTo>
                <a:lnTo>
                  <a:pt x="1470697" y="390849"/>
                </a:lnTo>
                <a:lnTo>
                  <a:pt x="1471423" y="391113"/>
                </a:lnTo>
                <a:close/>
              </a:path>
              <a:path w="1571625" h="1567814">
                <a:moveTo>
                  <a:pt x="987637" y="1567590"/>
                </a:moveTo>
                <a:lnTo>
                  <a:pt x="987637" y="1566866"/>
                </a:lnTo>
                <a:lnTo>
                  <a:pt x="951551" y="1559587"/>
                </a:lnTo>
                <a:lnTo>
                  <a:pt x="922098" y="1539736"/>
                </a:lnTo>
                <a:lnTo>
                  <a:pt x="902248" y="1510293"/>
                </a:lnTo>
                <a:lnTo>
                  <a:pt x="894972" y="1474241"/>
                </a:lnTo>
                <a:lnTo>
                  <a:pt x="894972" y="612044"/>
                </a:lnTo>
                <a:lnTo>
                  <a:pt x="902286" y="575953"/>
                </a:lnTo>
                <a:lnTo>
                  <a:pt x="922184" y="546492"/>
                </a:lnTo>
                <a:lnTo>
                  <a:pt x="951652" y="526633"/>
                </a:lnTo>
                <a:lnTo>
                  <a:pt x="987637" y="519353"/>
                </a:lnTo>
                <a:lnTo>
                  <a:pt x="1023667" y="526633"/>
                </a:lnTo>
                <a:lnTo>
                  <a:pt x="1053126" y="546492"/>
                </a:lnTo>
                <a:lnTo>
                  <a:pt x="1073007" y="575953"/>
                </a:lnTo>
                <a:lnTo>
                  <a:pt x="1080302" y="612044"/>
                </a:lnTo>
                <a:lnTo>
                  <a:pt x="1080302" y="1474965"/>
                </a:lnTo>
                <a:lnTo>
                  <a:pt x="1073025" y="1511045"/>
                </a:lnTo>
                <a:lnTo>
                  <a:pt x="1053176" y="1540484"/>
                </a:lnTo>
                <a:lnTo>
                  <a:pt x="1023723" y="1560320"/>
                </a:lnTo>
                <a:lnTo>
                  <a:pt x="987637" y="1567590"/>
                </a:lnTo>
                <a:close/>
              </a:path>
              <a:path w="1571625" h="1567814">
                <a:moveTo>
                  <a:pt x="689287" y="1464042"/>
                </a:moveTo>
                <a:lnTo>
                  <a:pt x="688686" y="1464042"/>
                </a:lnTo>
                <a:lnTo>
                  <a:pt x="652620" y="1456767"/>
                </a:lnTo>
                <a:lnTo>
                  <a:pt x="653045" y="1456767"/>
                </a:lnTo>
                <a:lnTo>
                  <a:pt x="623702" y="1436931"/>
                </a:lnTo>
                <a:lnTo>
                  <a:pt x="606187" y="1410952"/>
                </a:lnTo>
                <a:lnTo>
                  <a:pt x="603903" y="1407492"/>
                </a:lnTo>
                <a:lnTo>
                  <a:pt x="596648" y="1371544"/>
                </a:lnTo>
                <a:lnTo>
                  <a:pt x="596648" y="714544"/>
                </a:lnTo>
                <a:lnTo>
                  <a:pt x="603943" y="678464"/>
                </a:lnTo>
                <a:lnTo>
                  <a:pt x="623823" y="649025"/>
                </a:lnTo>
                <a:lnTo>
                  <a:pt x="653283" y="629189"/>
                </a:lnTo>
                <a:lnTo>
                  <a:pt x="689313" y="621918"/>
                </a:lnTo>
                <a:lnTo>
                  <a:pt x="725297" y="629189"/>
                </a:lnTo>
                <a:lnTo>
                  <a:pt x="754766" y="649025"/>
                </a:lnTo>
                <a:lnTo>
                  <a:pt x="774664" y="678464"/>
                </a:lnTo>
                <a:lnTo>
                  <a:pt x="781978" y="714544"/>
                </a:lnTo>
                <a:lnTo>
                  <a:pt x="781951" y="1371544"/>
                </a:lnTo>
                <a:lnTo>
                  <a:pt x="774701" y="1407492"/>
                </a:lnTo>
                <a:lnTo>
                  <a:pt x="754852" y="1436931"/>
                </a:lnTo>
                <a:lnTo>
                  <a:pt x="725399" y="1456767"/>
                </a:lnTo>
                <a:lnTo>
                  <a:pt x="689287" y="1464042"/>
                </a:lnTo>
                <a:close/>
              </a:path>
              <a:path w="1571625" h="1567814">
                <a:moveTo>
                  <a:pt x="390989" y="1366343"/>
                </a:moveTo>
                <a:lnTo>
                  <a:pt x="354903" y="1359063"/>
                </a:lnTo>
                <a:lnTo>
                  <a:pt x="325450" y="1339212"/>
                </a:lnTo>
                <a:lnTo>
                  <a:pt x="305600" y="1309770"/>
                </a:lnTo>
                <a:lnTo>
                  <a:pt x="298324" y="1273718"/>
                </a:lnTo>
                <a:lnTo>
                  <a:pt x="298324" y="812896"/>
                </a:lnTo>
                <a:lnTo>
                  <a:pt x="325450" y="747377"/>
                </a:lnTo>
                <a:lnTo>
                  <a:pt x="390989" y="720271"/>
                </a:lnTo>
                <a:lnTo>
                  <a:pt x="426897" y="727513"/>
                </a:lnTo>
                <a:lnTo>
                  <a:pt x="427029" y="727513"/>
                </a:lnTo>
                <a:lnTo>
                  <a:pt x="456524" y="747377"/>
                </a:lnTo>
                <a:lnTo>
                  <a:pt x="476414" y="776816"/>
                </a:lnTo>
                <a:lnTo>
                  <a:pt x="483720" y="812896"/>
                </a:lnTo>
                <a:lnTo>
                  <a:pt x="483720" y="1273718"/>
                </a:lnTo>
                <a:lnTo>
                  <a:pt x="476429" y="1309770"/>
                </a:lnTo>
                <a:lnTo>
                  <a:pt x="456553" y="1339212"/>
                </a:lnTo>
                <a:lnTo>
                  <a:pt x="427071" y="1359063"/>
                </a:lnTo>
                <a:lnTo>
                  <a:pt x="390989" y="1366343"/>
                </a:lnTo>
                <a:close/>
              </a:path>
              <a:path w="1571625" h="1567814">
                <a:moveTo>
                  <a:pt x="128635" y="731068"/>
                </a:moveTo>
                <a:lnTo>
                  <a:pt x="119725" y="729518"/>
                </a:lnTo>
                <a:lnTo>
                  <a:pt x="110771" y="728409"/>
                </a:lnTo>
                <a:lnTo>
                  <a:pt x="101773" y="727740"/>
                </a:lnTo>
                <a:lnTo>
                  <a:pt x="92731" y="727513"/>
                </a:lnTo>
                <a:lnTo>
                  <a:pt x="128635" y="727513"/>
                </a:lnTo>
                <a:lnTo>
                  <a:pt x="128635" y="731068"/>
                </a:lnTo>
                <a:close/>
              </a:path>
              <a:path w="1571625" h="1567814">
                <a:moveTo>
                  <a:pt x="92978" y="1266281"/>
                </a:moveTo>
                <a:lnTo>
                  <a:pt x="92678" y="1266281"/>
                </a:lnTo>
                <a:lnTo>
                  <a:pt x="56607" y="1258999"/>
                </a:lnTo>
                <a:lnTo>
                  <a:pt x="27151" y="1239148"/>
                </a:lnTo>
                <a:lnTo>
                  <a:pt x="7285" y="1209706"/>
                </a:lnTo>
                <a:lnTo>
                  <a:pt x="0" y="1173654"/>
                </a:lnTo>
                <a:lnTo>
                  <a:pt x="0" y="912763"/>
                </a:lnTo>
                <a:lnTo>
                  <a:pt x="7295" y="876711"/>
                </a:lnTo>
                <a:lnTo>
                  <a:pt x="27175" y="847268"/>
                </a:lnTo>
                <a:lnTo>
                  <a:pt x="56634" y="827417"/>
                </a:lnTo>
                <a:lnTo>
                  <a:pt x="92665" y="820138"/>
                </a:lnTo>
                <a:lnTo>
                  <a:pt x="98539" y="820138"/>
                </a:lnTo>
                <a:lnTo>
                  <a:pt x="139090" y="832473"/>
                </a:lnTo>
                <a:lnTo>
                  <a:pt x="173095" y="866440"/>
                </a:lnTo>
                <a:lnTo>
                  <a:pt x="185383" y="906690"/>
                </a:lnTo>
                <a:lnTo>
                  <a:pt x="185396" y="1173654"/>
                </a:lnTo>
                <a:lnTo>
                  <a:pt x="178113" y="1209706"/>
                </a:lnTo>
                <a:lnTo>
                  <a:pt x="158256" y="1239148"/>
                </a:lnTo>
                <a:lnTo>
                  <a:pt x="128831" y="1258999"/>
                </a:lnTo>
                <a:lnTo>
                  <a:pt x="129059" y="1258999"/>
                </a:lnTo>
                <a:lnTo>
                  <a:pt x="92978" y="1266281"/>
                </a:lnTo>
                <a:close/>
              </a:path>
              <a:path w="1571625" h="1567814">
                <a:moveTo>
                  <a:pt x="1489208" y="1431186"/>
                </a:moveTo>
                <a:lnTo>
                  <a:pt x="1450237" y="1425855"/>
                </a:lnTo>
                <a:lnTo>
                  <a:pt x="1173033" y="1342709"/>
                </a:lnTo>
                <a:lnTo>
                  <a:pt x="1173033" y="1267991"/>
                </a:lnTo>
                <a:lnTo>
                  <a:pt x="1471489" y="1357061"/>
                </a:lnTo>
                <a:lnTo>
                  <a:pt x="1475582" y="1358414"/>
                </a:lnTo>
                <a:lnTo>
                  <a:pt x="1479592" y="1359063"/>
                </a:lnTo>
                <a:lnTo>
                  <a:pt x="1570292" y="1359063"/>
                </a:lnTo>
                <a:lnTo>
                  <a:pt x="1568806" y="1367519"/>
                </a:lnTo>
                <a:lnTo>
                  <a:pt x="1550241" y="1402853"/>
                </a:lnTo>
                <a:lnTo>
                  <a:pt x="1511905" y="1427517"/>
                </a:lnTo>
                <a:lnTo>
                  <a:pt x="1494947" y="1430856"/>
                </a:lnTo>
                <a:lnTo>
                  <a:pt x="1489208" y="14311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5CB73F-97C3-ECC4-A86C-FD651EBBA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-1"/>
            <a:ext cx="18059400" cy="100965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8D8E47-4D68-A971-20FD-A242FE1F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0848"/>
            <a:ext cx="18288001" cy="103078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096A85-B029-4618-5569-316D803EA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98"/>
            <a:ext cx="18337740" cy="102604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21249" y="759506"/>
            <a:ext cx="1183576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16755" algn="l"/>
                <a:tab pos="5297170" algn="l"/>
              </a:tabLst>
            </a:pPr>
            <a:r>
              <a:rPr spc="-10" dirty="0"/>
              <a:t>Applications</a:t>
            </a:r>
            <a:r>
              <a:rPr dirty="0"/>
              <a:t>	</a:t>
            </a:r>
            <a:r>
              <a:rPr spc="-50" dirty="0"/>
              <a:t>&amp;</a:t>
            </a:r>
            <a:r>
              <a:rPr dirty="0"/>
              <a:t>	</a:t>
            </a:r>
            <a:r>
              <a:rPr spc="-10" dirty="0"/>
              <a:t>Recommendations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347725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403923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460120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5163184"/>
            <a:ext cx="104774" cy="10477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028712" y="629009"/>
            <a:ext cx="1571625" cy="1567815"/>
          </a:xfrm>
          <a:custGeom>
            <a:avLst/>
            <a:gdLst/>
            <a:ahLst/>
            <a:cxnLst/>
            <a:rect l="l" t="t" r="r" b="b"/>
            <a:pathLst>
              <a:path w="1571625" h="1567814">
                <a:moveTo>
                  <a:pt x="56892" y="731068"/>
                </a:moveTo>
                <a:lnTo>
                  <a:pt x="56892" y="85456"/>
                </a:lnTo>
                <a:lnTo>
                  <a:pt x="66836" y="44084"/>
                </a:lnTo>
                <a:lnTo>
                  <a:pt x="93473" y="14432"/>
                </a:lnTo>
                <a:lnTo>
                  <a:pt x="132016" y="0"/>
                </a:lnTo>
                <a:lnTo>
                  <a:pt x="177674" y="4286"/>
                </a:lnTo>
                <a:lnTo>
                  <a:pt x="402253" y="71434"/>
                </a:lnTo>
                <a:lnTo>
                  <a:pt x="128635" y="71434"/>
                </a:lnTo>
                <a:lnTo>
                  <a:pt x="128635" y="727513"/>
                </a:lnTo>
                <a:lnTo>
                  <a:pt x="92731" y="727513"/>
                </a:lnTo>
                <a:lnTo>
                  <a:pt x="83709" y="727740"/>
                </a:lnTo>
                <a:lnTo>
                  <a:pt x="74726" y="728409"/>
                </a:lnTo>
                <a:lnTo>
                  <a:pt x="65787" y="729518"/>
                </a:lnTo>
                <a:lnTo>
                  <a:pt x="56892" y="731068"/>
                </a:lnTo>
                <a:close/>
              </a:path>
              <a:path w="1571625" h="1567814">
                <a:moveTo>
                  <a:pt x="1570292" y="1359063"/>
                </a:moveTo>
                <a:lnTo>
                  <a:pt x="1499936" y="1359063"/>
                </a:lnTo>
                <a:lnTo>
                  <a:pt x="1499936" y="517246"/>
                </a:lnTo>
                <a:lnTo>
                  <a:pt x="1496238" y="501119"/>
                </a:lnTo>
                <a:lnTo>
                  <a:pt x="1485993" y="484454"/>
                </a:lnTo>
                <a:lnTo>
                  <a:pt x="1470477" y="469949"/>
                </a:lnTo>
                <a:lnTo>
                  <a:pt x="1450963" y="460302"/>
                </a:lnTo>
                <a:lnTo>
                  <a:pt x="157148" y="73475"/>
                </a:lnTo>
                <a:lnTo>
                  <a:pt x="153029" y="72147"/>
                </a:lnTo>
                <a:lnTo>
                  <a:pt x="148602" y="71434"/>
                </a:lnTo>
                <a:lnTo>
                  <a:pt x="402253" y="71434"/>
                </a:lnTo>
                <a:lnTo>
                  <a:pt x="1470542" y="390849"/>
                </a:lnTo>
                <a:lnTo>
                  <a:pt x="1470697" y="390849"/>
                </a:lnTo>
                <a:lnTo>
                  <a:pt x="1510124" y="410012"/>
                </a:lnTo>
                <a:lnTo>
                  <a:pt x="1541970" y="439828"/>
                </a:lnTo>
                <a:lnTo>
                  <a:pt x="1563260" y="476556"/>
                </a:lnTo>
                <a:lnTo>
                  <a:pt x="1571019" y="516456"/>
                </a:lnTo>
                <a:lnTo>
                  <a:pt x="1571019" y="1344684"/>
                </a:lnTo>
                <a:lnTo>
                  <a:pt x="1571207" y="1350445"/>
                </a:lnTo>
                <a:lnTo>
                  <a:pt x="1570802" y="1356165"/>
                </a:lnTo>
                <a:lnTo>
                  <a:pt x="1570406" y="1358414"/>
                </a:lnTo>
                <a:lnTo>
                  <a:pt x="1570292" y="1359063"/>
                </a:lnTo>
                <a:close/>
              </a:path>
              <a:path w="1571625" h="1567814">
                <a:moveTo>
                  <a:pt x="1471423" y="391113"/>
                </a:moveTo>
                <a:lnTo>
                  <a:pt x="1470542" y="390849"/>
                </a:lnTo>
                <a:lnTo>
                  <a:pt x="1470697" y="390849"/>
                </a:lnTo>
                <a:lnTo>
                  <a:pt x="1471423" y="391113"/>
                </a:lnTo>
                <a:close/>
              </a:path>
              <a:path w="1571625" h="1567814">
                <a:moveTo>
                  <a:pt x="987637" y="1567590"/>
                </a:moveTo>
                <a:lnTo>
                  <a:pt x="987637" y="1566866"/>
                </a:lnTo>
                <a:lnTo>
                  <a:pt x="951551" y="1559587"/>
                </a:lnTo>
                <a:lnTo>
                  <a:pt x="922098" y="1539736"/>
                </a:lnTo>
                <a:lnTo>
                  <a:pt x="902248" y="1510293"/>
                </a:lnTo>
                <a:lnTo>
                  <a:pt x="894972" y="1474241"/>
                </a:lnTo>
                <a:lnTo>
                  <a:pt x="894972" y="612044"/>
                </a:lnTo>
                <a:lnTo>
                  <a:pt x="902286" y="575953"/>
                </a:lnTo>
                <a:lnTo>
                  <a:pt x="922184" y="546492"/>
                </a:lnTo>
                <a:lnTo>
                  <a:pt x="951652" y="526633"/>
                </a:lnTo>
                <a:lnTo>
                  <a:pt x="987637" y="519353"/>
                </a:lnTo>
                <a:lnTo>
                  <a:pt x="1023667" y="526633"/>
                </a:lnTo>
                <a:lnTo>
                  <a:pt x="1053126" y="546492"/>
                </a:lnTo>
                <a:lnTo>
                  <a:pt x="1073007" y="575953"/>
                </a:lnTo>
                <a:lnTo>
                  <a:pt x="1080302" y="612044"/>
                </a:lnTo>
                <a:lnTo>
                  <a:pt x="1080302" y="1474965"/>
                </a:lnTo>
                <a:lnTo>
                  <a:pt x="1073025" y="1511045"/>
                </a:lnTo>
                <a:lnTo>
                  <a:pt x="1053176" y="1540484"/>
                </a:lnTo>
                <a:lnTo>
                  <a:pt x="1023723" y="1560320"/>
                </a:lnTo>
                <a:lnTo>
                  <a:pt x="987637" y="1567590"/>
                </a:lnTo>
                <a:close/>
              </a:path>
              <a:path w="1571625" h="1567814">
                <a:moveTo>
                  <a:pt x="689287" y="1464042"/>
                </a:moveTo>
                <a:lnTo>
                  <a:pt x="688686" y="1464042"/>
                </a:lnTo>
                <a:lnTo>
                  <a:pt x="652620" y="1456767"/>
                </a:lnTo>
                <a:lnTo>
                  <a:pt x="653045" y="1456767"/>
                </a:lnTo>
                <a:lnTo>
                  <a:pt x="623702" y="1436931"/>
                </a:lnTo>
                <a:lnTo>
                  <a:pt x="606187" y="1410952"/>
                </a:lnTo>
                <a:lnTo>
                  <a:pt x="603903" y="1407492"/>
                </a:lnTo>
                <a:lnTo>
                  <a:pt x="596648" y="1371544"/>
                </a:lnTo>
                <a:lnTo>
                  <a:pt x="596648" y="714544"/>
                </a:lnTo>
                <a:lnTo>
                  <a:pt x="603943" y="678464"/>
                </a:lnTo>
                <a:lnTo>
                  <a:pt x="623823" y="649025"/>
                </a:lnTo>
                <a:lnTo>
                  <a:pt x="653283" y="629189"/>
                </a:lnTo>
                <a:lnTo>
                  <a:pt x="689313" y="621918"/>
                </a:lnTo>
                <a:lnTo>
                  <a:pt x="725297" y="629189"/>
                </a:lnTo>
                <a:lnTo>
                  <a:pt x="754766" y="649025"/>
                </a:lnTo>
                <a:lnTo>
                  <a:pt x="774664" y="678464"/>
                </a:lnTo>
                <a:lnTo>
                  <a:pt x="781978" y="714544"/>
                </a:lnTo>
                <a:lnTo>
                  <a:pt x="781951" y="1371544"/>
                </a:lnTo>
                <a:lnTo>
                  <a:pt x="774701" y="1407492"/>
                </a:lnTo>
                <a:lnTo>
                  <a:pt x="754852" y="1436931"/>
                </a:lnTo>
                <a:lnTo>
                  <a:pt x="725399" y="1456767"/>
                </a:lnTo>
                <a:lnTo>
                  <a:pt x="689287" y="1464042"/>
                </a:lnTo>
                <a:close/>
              </a:path>
              <a:path w="1571625" h="1567814">
                <a:moveTo>
                  <a:pt x="390989" y="1366343"/>
                </a:moveTo>
                <a:lnTo>
                  <a:pt x="354903" y="1359063"/>
                </a:lnTo>
                <a:lnTo>
                  <a:pt x="325450" y="1339212"/>
                </a:lnTo>
                <a:lnTo>
                  <a:pt x="305600" y="1309770"/>
                </a:lnTo>
                <a:lnTo>
                  <a:pt x="298324" y="1273718"/>
                </a:lnTo>
                <a:lnTo>
                  <a:pt x="298324" y="812896"/>
                </a:lnTo>
                <a:lnTo>
                  <a:pt x="325450" y="747377"/>
                </a:lnTo>
                <a:lnTo>
                  <a:pt x="390989" y="720271"/>
                </a:lnTo>
                <a:lnTo>
                  <a:pt x="426897" y="727513"/>
                </a:lnTo>
                <a:lnTo>
                  <a:pt x="427029" y="727513"/>
                </a:lnTo>
                <a:lnTo>
                  <a:pt x="456524" y="747377"/>
                </a:lnTo>
                <a:lnTo>
                  <a:pt x="476414" y="776816"/>
                </a:lnTo>
                <a:lnTo>
                  <a:pt x="483720" y="812896"/>
                </a:lnTo>
                <a:lnTo>
                  <a:pt x="483720" y="1273718"/>
                </a:lnTo>
                <a:lnTo>
                  <a:pt x="476429" y="1309770"/>
                </a:lnTo>
                <a:lnTo>
                  <a:pt x="456553" y="1339212"/>
                </a:lnTo>
                <a:lnTo>
                  <a:pt x="427071" y="1359063"/>
                </a:lnTo>
                <a:lnTo>
                  <a:pt x="390989" y="1366343"/>
                </a:lnTo>
                <a:close/>
              </a:path>
              <a:path w="1571625" h="1567814">
                <a:moveTo>
                  <a:pt x="128635" y="731068"/>
                </a:moveTo>
                <a:lnTo>
                  <a:pt x="119725" y="729518"/>
                </a:lnTo>
                <a:lnTo>
                  <a:pt x="110771" y="728409"/>
                </a:lnTo>
                <a:lnTo>
                  <a:pt x="101773" y="727740"/>
                </a:lnTo>
                <a:lnTo>
                  <a:pt x="92731" y="727513"/>
                </a:lnTo>
                <a:lnTo>
                  <a:pt x="128635" y="727513"/>
                </a:lnTo>
                <a:lnTo>
                  <a:pt x="128635" y="731068"/>
                </a:lnTo>
                <a:close/>
              </a:path>
              <a:path w="1571625" h="1567814">
                <a:moveTo>
                  <a:pt x="92978" y="1266281"/>
                </a:moveTo>
                <a:lnTo>
                  <a:pt x="92678" y="1266281"/>
                </a:lnTo>
                <a:lnTo>
                  <a:pt x="56607" y="1258999"/>
                </a:lnTo>
                <a:lnTo>
                  <a:pt x="27151" y="1239148"/>
                </a:lnTo>
                <a:lnTo>
                  <a:pt x="7285" y="1209706"/>
                </a:lnTo>
                <a:lnTo>
                  <a:pt x="0" y="1173654"/>
                </a:lnTo>
                <a:lnTo>
                  <a:pt x="0" y="912763"/>
                </a:lnTo>
                <a:lnTo>
                  <a:pt x="7295" y="876711"/>
                </a:lnTo>
                <a:lnTo>
                  <a:pt x="27175" y="847268"/>
                </a:lnTo>
                <a:lnTo>
                  <a:pt x="56634" y="827417"/>
                </a:lnTo>
                <a:lnTo>
                  <a:pt x="92665" y="820138"/>
                </a:lnTo>
                <a:lnTo>
                  <a:pt x="98539" y="820138"/>
                </a:lnTo>
                <a:lnTo>
                  <a:pt x="139090" y="832473"/>
                </a:lnTo>
                <a:lnTo>
                  <a:pt x="173095" y="866440"/>
                </a:lnTo>
                <a:lnTo>
                  <a:pt x="185383" y="906690"/>
                </a:lnTo>
                <a:lnTo>
                  <a:pt x="185396" y="1173654"/>
                </a:lnTo>
                <a:lnTo>
                  <a:pt x="178113" y="1209706"/>
                </a:lnTo>
                <a:lnTo>
                  <a:pt x="158256" y="1239148"/>
                </a:lnTo>
                <a:lnTo>
                  <a:pt x="128831" y="1258999"/>
                </a:lnTo>
                <a:lnTo>
                  <a:pt x="129059" y="1258999"/>
                </a:lnTo>
                <a:lnTo>
                  <a:pt x="92978" y="1266281"/>
                </a:lnTo>
                <a:close/>
              </a:path>
              <a:path w="1571625" h="1567814">
                <a:moveTo>
                  <a:pt x="1489208" y="1431186"/>
                </a:moveTo>
                <a:lnTo>
                  <a:pt x="1450237" y="1425855"/>
                </a:lnTo>
                <a:lnTo>
                  <a:pt x="1173033" y="1342709"/>
                </a:lnTo>
                <a:lnTo>
                  <a:pt x="1173033" y="1267991"/>
                </a:lnTo>
                <a:lnTo>
                  <a:pt x="1471489" y="1357061"/>
                </a:lnTo>
                <a:lnTo>
                  <a:pt x="1475582" y="1358414"/>
                </a:lnTo>
                <a:lnTo>
                  <a:pt x="1479592" y="1359063"/>
                </a:lnTo>
                <a:lnTo>
                  <a:pt x="1570292" y="1359063"/>
                </a:lnTo>
                <a:lnTo>
                  <a:pt x="1568806" y="1367519"/>
                </a:lnTo>
                <a:lnTo>
                  <a:pt x="1550241" y="1402853"/>
                </a:lnTo>
                <a:lnTo>
                  <a:pt x="1511905" y="1427517"/>
                </a:lnTo>
                <a:lnTo>
                  <a:pt x="1494947" y="1430856"/>
                </a:lnTo>
                <a:lnTo>
                  <a:pt x="1489208" y="14311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6719633"/>
            <a:ext cx="104774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7281608"/>
            <a:ext cx="104774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7843583"/>
            <a:ext cx="104774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8405558"/>
            <a:ext cx="104774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936" y="8967532"/>
            <a:ext cx="104774" cy="10477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spc="-10" dirty="0"/>
              <a:t>Applications</a:t>
            </a:r>
          </a:p>
          <a:p>
            <a:pPr marL="616585" marR="2207895">
              <a:lnSpc>
                <a:spcPct val="131700"/>
              </a:lnSpc>
              <a:spcBef>
                <a:spcPts val="160"/>
              </a:spcBef>
            </a:pPr>
            <a:r>
              <a:rPr sz="2800" dirty="0"/>
              <a:t>Used</a:t>
            </a:r>
            <a:r>
              <a:rPr sz="2800" spc="-50" dirty="0"/>
              <a:t> </a:t>
            </a:r>
            <a:r>
              <a:rPr sz="2800" dirty="0"/>
              <a:t>by</a:t>
            </a:r>
            <a:r>
              <a:rPr sz="2800" spc="-50" dirty="0"/>
              <a:t> </a:t>
            </a:r>
            <a:r>
              <a:rPr sz="2800" dirty="0"/>
              <a:t>Marketing</a:t>
            </a:r>
            <a:r>
              <a:rPr sz="2800" spc="-50" dirty="0"/>
              <a:t> </a:t>
            </a:r>
            <a:r>
              <a:rPr sz="2800" dirty="0"/>
              <a:t>Teams</a:t>
            </a:r>
            <a:r>
              <a:rPr sz="2800" spc="-50" dirty="0"/>
              <a:t> </a:t>
            </a:r>
            <a:r>
              <a:rPr sz="2800" dirty="0"/>
              <a:t>to</a:t>
            </a:r>
            <a:r>
              <a:rPr sz="2800" spc="-50" dirty="0"/>
              <a:t> </a:t>
            </a:r>
            <a:r>
              <a:rPr sz="2800" dirty="0"/>
              <a:t>identify</a:t>
            </a:r>
            <a:r>
              <a:rPr sz="2800" spc="-45" dirty="0"/>
              <a:t> </a:t>
            </a:r>
            <a:r>
              <a:rPr sz="2800" dirty="0"/>
              <a:t>and</a:t>
            </a:r>
            <a:r>
              <a:rPr sz="2800" spc="-50" dirty="0"/>
              <a:t> </a:t>
            </a:r>
            <a:r>
              <a:rPr sz="2800" dirty="0"/>
              <a:t>target</a:t>
            </a:r>
            <a:r>
              <a:rPr sz="2800" spc="-50" dirty="0"/>
              <a:t> </a:t>
            </a:r>
            <a:r>
              <a:rPr sz="2800" spc="-20" dirty="0"/>
              <a:t>high-</a:t>
            </a:r>
            <a:r>
              <a:rPr sz="2800" dirty="0"/>
              <a:t>risk</a:t>
            </a:r>
            <a:r>
              <a:rPr sz="2800" spc="-50" dirty="0"/>
              <a:t> </a:t>
            </a:r>
            <a:r>
              <a:rPr sz="2800" dirty="0"/>
              <a:t>customers</a:t>
            </a:r>
            <a:r>
              <a:rPr sz="2800" spc="-50" dirty="0"/>
              <a:t> </a:t>
            </a:r>
            <a:r>
              <a:rPr sz="2800" dirty="0"/>
              <a:t>with</a:t>
            </a:r>
            <a:r>
              <a:rPr sz="2800" spc="-50" dirty="0"/>
              <a:t> </a:t>
            </a:r>
            <a:r>
              <a:rPr sz="2800" dirty="0"/>
              <a:t>retention</a:t>
            </a:r>
            <a:r>
              <a:rPr sz="2800" spc="-45" dirty="0"/>
              <a:t> </a:t>
            </a:r>
            <a:r>
              <a:rPr sz="2800" spc="-10" dirty="0"/>
              <a:t>offers. </a:t>
            </a:r>
            <a:r>
              <a:rPr sz="2800" dirty="0"/>
              <a:t>Helps</a:t>
            </a:r>
            <a:r>
              <a:rPr sz="2800" spc="-70" dirty="0"/>
              <a:t> </a:t>
            </a:r>
            <a:r>
              <a:rPr sz="2800" dirty="0"/>
              <a:t>Customer</a:t>
            </a:r>
            <a:r>
              <a:rPr sz="2800" spc="-65" dirty="0"/>
              <a:t> </a:t>
            </a:r>
            <a:r>
              <a:rPr sz="2800" dirty="0"/>
              <a:t>Support</a:t>
            </a:r>
            <a:r>
              <a:rPr sz="2800" spc="-70" dirty="0"/>
              <a:t> </a:t>
            </a:r>
            <a:r>
              <a:rPr sz="2800" dirty="0"/>
              <a:t>prioritize</a:t>
            </a:r>
            <a:r>
              <a:rPr sz="2800" spc="-65" dirty="0"/>
              <a:t> </a:t>
            </a:r>
            <a:r>
              <a:rPr sz="2800" dirty="0"/>
              <a:t>service</a:t>
            </a:r>
            <a:r>
              <a:rPr sz="2800" spc="-70" dirty="0"/>
              <a:t> </a:t>
            </a:r>
            <a:r>
              <a:rPr sz="2800" dirty="0"/>
              <a:t>improvement</a:t>
            </a:r>
            <a:r>
              <a:rPr sz="2800" spc="-65" dirty="0"/>
              <a:t> </a:t>
            </a:r>
            <a:r>
              <a:rPr sz="2800" dirty="0"/>
              <a:t>for</a:t>
            </a:r>
            <a:r>
              <a:rPr sz="2800" spc="-70" dirty="0"/>
              <a:t> </a:t>
            </a:r>
            <a:r>
              <a:rPr sz="2800" dirty="0"/>
              <a:t>segments</a:t>
            </a:r>
            <a:r>
              <a:rPr sz="2800" spc="-65" dirty="0"/>
              <a:t> </a:t>
            </a:r>
            <a:r>
              <a:rPr sz="2800" dirty="0"/>
              <a:t>with</a:t>
            </a:r>
            <a:r>
              <a:rPr sz="2800" spc="-70" dirty="0"/>
              <a:t> </a:t>
            </a:r>
            <a:r>
              <a:rPr sz="2800" dirty="0"/>
              <a:t>high</a:t>
            </a:r>
            <a:r>
              <a:rPr sz="2800" spc="-65" dirty="0"/>
              <a:t> </a:t>
            </a:r>
            <a:r>
              <a:rPr sz="2800" spc="-10" dirty="0"/>
              <a:t>churn.</a:t>
            </a:r>
            <a:endParaRPr sz="2800"/>
          </a:p>
          <a:p>
            <a:pPr marL="616585" marR="2473325">
              <a:lnSpc>
                <a:spcPct val="131700"/>
              </a:lnSpc>
            </a:pPr>
            <a:r>
              <a:rPr sz="2800" dirty="0"/>
              <a:t>Enables</a:t>
            </a:r>
            <a:r>
              <a:rPr sz="2800" spc="-55" dirty="0"/>
              <a:t> </a:t>
            </a:r>
            <a:r>
              <a:rPr sz="2800" dirty="0"/>
              <a:t>Management</a:t>
            </a:r>
            <a:r>
              <a:rPr sz="2800" spc="-55" dirty="0"/>
              <a:t> </a:t>
            </a:r>
            <a:r>
              <a:rPr sz="2800" dirty="0"/>
              <a:t>to</a:t>
            </a:r>
            <a:r>
              <a:rPr sz="2800" spc="-50" dirty="0"/>
              <a:t> </a:t>
            </a:r>
            <a:r>
              <a:rPr sz="2800" dirty="0"/>
              <a:t>track</a:t>
            </a:r>
            <a:r>
              <a:rPr sz="2800" spc="-55" dirty="0"/>
              <a:t> </a:t>
            </a:r>
            <a:r>
              <a:rPr sz="2800" dirty="0"/>
              <a:t>key</a:t>
            </a:r>
            <a:r>
              <a:rPr sz="2800" spc="-55" dirty="0"/>
              <a:t> </a:t>
            </a:r>
            <a:r>
              <a:rPr sz="2800" dirty="0"/>
              <a:t>churn</a:t>
            </a:r>
            <a:r>
              <a:rPr sz="2800" spc="-50" dirty="0"/>
              <a:t> </a:t>
            </a:r>
            <a:r>
              <a:rPr sz="2800" dirty="0"/>
              <a:t>KPIs</a:t>
            </a:r>
            <a:r>
              <a:rPr sz="2800" spc="-55" dirty="0"/>
              <a:t> </a:t>
            </a:r>
            <a:r>
              <a:rPr sz="2800" dirty="0"/>
              <a:t>and</a:t>
            </a:r>
            <a:r>
              <a:rPr sz="2800" spc="-50" dirty="0"/>
              <a:t> </a:t>
            </a:r>
            <a:r>
              <a:rPr sz="2800" dirty="0"/>
              <a:t>make</a:t>
            </a:r>
            <a:r>
              <a:rPr sz="2800" spc="-55" dirty="0"/>
              <a:t> </a:t>
            </a:r>
            <a:r>
              <a:rPr sz="2800" spc="-10" dirty="0"/>
              <a:t>data-</a:t>
            </a:r>
            <a:r>
              <a:rPr sz="2800" dirty="0"/>
              <a:t>driven</a:t>
            </a:r>
            <a:r>
              <a:rPr sz="2800" spc="-55" dirty="0"/>
              <a:t> </a:t>
            </a:r>
            <a:r>
              <a:rPr sz="2800" dirty="0"/>
              <a:t>strategic</a:t>
            </a:r>
            <a:r>
              <a:rPr sz="2800" spc="-50" dirty="0"/>
              <a:t> </a:t>
            </a:r>
            <a:r>
              <a:rPr sz="2800" spc="-10" dirty="0"/>
              <a:t>decisions. </a:t>
            </a:r>
            <a:r>
              <a:rPr sz="2800" dirty="0"/>
              <a:t>Supports</a:t>
            </a:r>
            <a:r>
              <a:rPr sz="2800" spc="-70" dirty="0"/>
              <a:t> </a:t>
            </a:r>
            <a:r>
              <a:rPr sz="2800" dirty="0"/>
              <a:t>Product</a:t>
            </a:r>
            <a:r>
              <a:rPr sz="2800" spc="-65" dirty="0"/>
              <a:t> </a:t>
            </a:r>
            <a:r>
              <a:rPr sz="2800" dirty="0"/>
              <a:t>Teams</a:t>
            </a:r>
            <a:r>
              <a:rPr sz="2800" spc="-65" dirty="0"/>
              <a:t> </a:t>
            </a:r>
            <a:r>
              <a:rPr sz="2800" dirty="0"/>
              <a:t>in</a:t>
            </a:r>
            <a:r>
              <a:rPr sz="2800" spc="-65" dirty="0"/>
              <a:t> </a:t>
            </a:r>
            <a:r>
              <a:rPr sz="2800" dirty="0"/>
              <a:t>optimizing</a:t>
            </a:r>
            <a:r>
              <a:rPr sz="2800" spc="-65" dirty="0"/>
              <a:t> </a:t>
            </a:r>
            <a:r>
              <a:rPr sz="2800" dirty="0"/>
              <a:t>service</a:t>
            </a:r>
            <a:r>
              <a:rPr sz="2800" spc="-65" dirty="0"/>
              <a:t> </a:t>
            </a:r>
            <a:r>
              <a:rPr sz="2800" dirty="0"/>
              <a:t>bundles</a:t>
            </a:r>
            <a:r>
              <a:rPr sz="2800" spc="-65" dirty="0"/>
              <a:t> </a:t>
            </a:r>
            <a:r>
              <a:rPr sz="2800" dirty="0"/>
              <a:t>and</a:t>
            </a:r>
            <a:r>
              <a:rPr sz="2800" spc="-65" dirty="0"/>
              <a:t> </a:t>
            </a:r>
            <a:r>
              <a:rPr sz="2800" dirty="0"/>
              <a:t>pricing</a:t>
            </a:r>
            <a:r>
              <a:rPr sz="2800" spc="-65" dirty="0"/>
              <a:t> </a:t>
            </a:r>
            <a:r>
              <a:rPr sz="2800" spc="-10" dirty="0"/>
              <a:t>models.</a:t>
            </a:r>
            <a:endParaRPr sz="2800"/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800"/>
          </a:p>
          <a:p>
            <a:pPr marL="12700">
              <a:lnSpc>
                <a:spcPct val="100000"/>
              </a:lnSpc>
            </a:pPr>
            <a:r>
              <a:rPr spc="-10" dirty="0"/>
              <a:t>Recommendations</a:t>
            </a:r>
          </a:p>
          <a:p>
            <a:pPr marL="616585" marR="1486535">
              <a:lnSpc>
                <a:spcPct val="131700"/>
              </a:lnSpc>
              <a:spcBef>
                <a:spcPts val="160"/>
              </a:spcBef>
            </a:pPr>
            <a:r>
              <a:rPr sz="2800" dirty="0"/>
              <a:t>Encourage</a:t>
            </a:r>
            <a:r>
              <a:rPr sz="2800" spc="-50" dirty="0"/>
              <a:t> </a:t>
            </a:r>
            <a:r>
              <a:rPr sz="2800" spc="-10" dirty="0"/>
              <a:t>long-</a:t>
            </a:r>
            <a:r>
              <a:rPr sz="2800" dirty="0"/>
              <a:t>term</a:t>
            </a:r>
            <a:r>
              <a:rPr sz="2800" spc="-50" dirty="0"/>
              <a:t> </a:t>
            </a:r>
            <a:r>
              <a:rPr sz="2800" dirty="0"/>
              <a:t>contracts</a:t>
            </a:r>
            <a:r>
              <a:rPr sz="2800" spc="-50" dirty="0"/>
              <a:t> </a:t>
            </a:r>
            <a:r>
              <a:rPr sz="2800" spc="-10" dirty="0"/>
              <a:t>(1-</a:t>
            </a:r>
            <a:r>
              <a:rPr sz="2800" dirty="0"/>
              <a:t>year</a:t>
            </a:r>
            <a:r>
              <a:rPr sz="2800" spc="-45" dirty="0"/>
              <a:t> </a:t>
            </a:r>
            <a:r>
              <a:rPr sz="2800" dirty="0"/>
              <a:t>or</a:t>
            </a:r>
            <a:r>
              <a:rPr sz="2800" spc="-50" dirty="0"/>
              <a:t> </a:t>
            </a:r>
            <a:r>
              <a:rPr sz="2800" spc="-10" dirty="0"/>
              <a:t>2-</a:t>
            </a:r>
            <a:r>
              <a:rPr sz="2800" dirty="0"/>
              <a:t>year</a:t>
            </a:r>
            <a:r>
              <a:rPr sz="2800" spc="-50" dirty="0"/>
              <a:t> </a:t>
            </a:r>
            <a:r>
              <a:rPr sz="2800" dirty="0"/>
              <a:t>plans)</a:t>
            </a:r>
            <a:r>
              <a:rPr sz="2800" spc="-50" dirty="0"/>
              <a:t> </a:t>
            </a:r>
            <a:r>
              <a:rPr sz="2800" dirty="0"/>
              <a:t>through</a:t>
            </a:r>
            <a:r>
              <a:rPr sz="2800" spc="-45" dirty="0"/>
              <a:t> </a:t>
            </a:r>
            <a:r>
              <a:rPr sz="2800" dirty="0"/>
              <a:t>discounts</a:t>
            </a:r>
            <a:r>
              <a:rPr sz="2800" spc="-50" dirty="0"/>
              <a:t> </a:t>
            </a:r>
            <a:r>
              <a:rPr sz="2800" dirty="0"/>
              <a:t>and</a:t>
            </a:r>
            <a:r>
              <a:rPr sz="2800" spc="-50" dirty="0"/>
              <a:t> </a:t>
            </a:r>
            <a:r>
              <a:rPr sz="2800" dirty="0"/>
              <a:t>loyalty</a:t>
            </a:r>
            <a:r>
              <a:rPr sz="2800" spc="-50" dirty="0"/>
              <a:t> </a:t>
            </a:r>
            <a:r>
              <a:rPr sz="2800" spc="-10" dirty="0"/>
              <a:t>rewards. </a:t>
            </a:r>
            <a:r>
              <a:rPr sz="2800" dirty="0"/>
              <a:t>Promote</a:t>
            </a:r>
            <a:r>
              <a:rPr sz="2800" spc="-60" dirty="0"/>
              <a:t> </a:t>
            </a:r>
            <a:r>
              <a:rPr sz="2800" dirty="0"/>
              <a:t>bundled</a:t>
            </a:r>
            <a:r>
              <a:rPr sz="2800" spc="-60" dirty="0"/>
              <a:t> </a:t>
            </a:r>
            <a:r>
              <a:rPr sz="2800" dirty="0"/>
              <a:t>service</a:t>
            </a:r>
            <a:r>
              <a:rPr sz="2800" spc="-60" dirty="0"/>
              <a:t> </a:t>
            </a:r>
            <a:r>
              <a:rPr sz="2800" dirty="0"/>
              <a:t>packages</a:t>
            </a:r>
            <a:r>
              <a:rPr sz="2800" spc="-55" dirty="0"/>
              <a:t> </a:t>
            </a:r>
            <a:r>
              <a:rPr sz="2800" dirty="0"/>
              <a:t>(e.g.,</a:t>
            </a:r>
            <a:r>
              <a:rPr sz="2800" spc="-60" dirty="0"/>
              <a:t> </a:t>
            </a:r>
            <a:r>
              <a:rPr sz="2800" dirty="0"/>
              <a:t>Internet</a:t>
            </a:r>
            <a:r>
              <a:rPr sz="2800" spc="-60" dirty="0"/>
              <a:t> </a:t>
            </a:r>
            <a:r>
              <a:rPr sz="2800" dirty="0"/>
              <a:t>+</a:t>
            </a:r>
            <a:r>
              <a:rPr sz="2800" spc="-55" dirty="0"/>
              <a:t> </a:t>
            </a:r>
            <a:r>
              <a:rPr sz="2800" dirty="0"/>
              <a:t>Streaming</a:t>
            </a:r>
            <a:r>
              <a:rPr sz="2800" spc="-60" dirty="0"/>
              <a:t> </a:t>
            </a:r>
            <a:r>
              <a:rPr sz="2800" dirty="0"/>
              <a:t>+</a:t>
            </a:r>
            <a:r>
              <a:rPr sz="2800" spc="-60" dirty="0"/>
              <a:t> </a:t>
            </a:r>
            <a:r>
              <a:rPr sz="2800" dirty="0"/>
              <a:t>Security)</a:t>
            </a:r>
            <a:r>
              <a:rPr sz="2800" spc="-55" dirty="0"/>
              <a:t> </a:t>
            </a:r>
            <a:r>
              <a:rPr sz="2800" dirty="0"/>
              <a:t>to</a:t>
            </a:r>
            <a:r>
              <a:rPr sz="2800" spc="-60" dirty="0"/>
              <a:t> </a:t>
            </a:r>
            <a:r>
              <a:rPr sz="2800" dirty="0"/>
              <a:t>reduce</a:t>
            </a:r>
            <a:r>
              <a:rPr sz="2800" spc="-60" dirty="0"/>
              <a:t> </a:t>
            </a:r>
            <a:r>
              <a:rPr sz="2800" spc="-10" dirty="0"/>
              <a:t>churn.</a:t>
            </a:r>
            <a:endParaRPr sz="2800"/>
          </a:p>
          <a:p>
            <a:pPr marL="616585" marR="5080">
              <a:lnSpc>
                <a:spcPct val="131700"/>
              </a:lnSpc>
            </a:pPr>
            <a:r>
              <a:rPr sz="2800" dirty="0"/>
              <a:t>Improve</a:t>
            </a:r>
            <a:r>
              <a:rPr sz="2800" spc="-55" dirty="0"/>
              <a:t> </a:t>
            </a:r>
            <a:r>
              <a:rPr sz="2800" dirty="0"/>
              <a:t>customer</a:t>
            </a:r>
            <a:r>
              <a:rPr sz="2800" spc="-50" dirty="0"/>
              <a:t> </a:t>
            </a:r>
            <a:r>
              <a:rPr sz="2800" dirty="0"/>
              <a:t>retention</a:t>
            </a:r>
            <a:r>
              <a:rPr sz="2800" spc="-55" dirty="0"/>
              <a:t> </a:t>
            </a:r>
            <a:r>
              <a:rPr sz="2800" dirty="0"/>
              <a:t>by</a:t>
            </a:r>
            <a:r>
              <a:rPr sz="2800" spc="-50" dirty="0"/>
              <a:t> </a:t>
            </a:r>
            <a:r>
              <a:rPr sz="2800" dirty="0"/>
              <a:t>offering</a:t>
            </a:r>
            <a:r>
              <a:rPr sz="2800" spc="-55" dirty="0"/>
              <a:t> </a:t>
            </a:r>
            <a:r>
              <a:rPr sz="2800" dirty="0"/>
              <a:t>personalized</a:t>
            </a:r>
            <a:r>
              <a:rPr sz="2800" spc="-50" dirty="0"/>
              <a:t> </a:t>
            </a:r>
            <a:r>
              <a:rPr sz="2800" dirty="0"/>
              <a:t>plans</a:t>
            </a:r>
            <a:r>
              <a:rPr sz="2800" spc="-55" dirty="0"/>
              <a:t> </a:t>
            </a:r>
            <a:r>
              <a:rPr sz="2800" dirty="0"/>
              <a:t>for</a:t>
            </a:r>
            <a:r>
              <a:rPr sz="2800" spc="-50" dirty="0"/>
              <a:t> </a:t>
            </a:r>
            <a:r>
              <a:rPr sz="2800" dirty="0"/>
              <a:t>senior</a:t>
            </a:r>
            <a:r>
              <a:rPr sz="2800" spc="-55" dirty="0"/>
              <a:t> </a:t>
            </a:r>
            <a:r>
              <a:rPr sz="2800" dirty="0"/>
              <a:t>citizens</a:t>
            </a:r>
            <a:r>
              <a:rPr sz="2800" spc="-50" dirty="0"/>
              <a:t> </a:t>
            </a:r>
            <a:r>
              <a:rPr sz="2800" dirty="0"/>
              <a:t>and</a:t>
            </a:r>
            <a:r>
              <a:rPr sz="2800" spc="-55" dirty="0"/>
              <a:t> </a:t>
            </a:r>
            <a:r>
              <a:rPr sz="2800" spc="-20" dirty="0"/>
              <a:t>high-</a:t>
            </a:r>
            <a:r>
              <a:rPr sz="2800" dirty="0"/>
              <a:t>charge</a:t>
            </a:r>
            <a:r>
              <a:rPr sz="2800" spc="-50" dirty="0"/>
              <a:t> </a:t>
            </a:r>
            <a:r>
              <a:rPr sz="2800" spc="-10" dirty="0"/>
              <a:t>users. </a:t>
            </a:r>
            <a:r>
              <a:rPr sz="2800" dirty="0"/>
              <a:t>Educate</a:t>
            </a:r>
            <a:r>
              <a:rPr sz="2800" spc="-60" dirty="0"/>
              <a:t> </a:t>
            </a:r>
            <a:r>
              <a:rPr sz="2800" dirty="0"/>
              <a:t>customers</a:t>
            </a:r>
            <a:r>
              <a:rPr sz="2800" spc="-55" dirty="0"/>
              <a:t> </a:t>
            </a:r>
            <a:r>
              <a:rPr sz="2800" dirty="0"/>
              <a:t>about</a:t>
            </a:r>
            <a:r>
              <a:rPr sz="2800" spc="-55" dirty="0"/>
              <a:t> </a:t>
            </a:r>
            <a:r>
              <a:rPr sz="2800" dirty="0"/>
              <a:t>benefits</a:t>
            </a:r>
            <a:r>
              <a:rPr sz="2800" spc="-60" dirty="0"/>
              <a:t> </a:t>
            </a:r>
            <a:r>
              <a:rPr sz="2800" dirty="0"/>
              <a:t>of</a:t>
            </a:r>
            <a:r>
              <a:rPr sz="2800" spc="-55" dirty="0"/>
              <a:t> </a:t>
            </a:r>
            <a:r>
              <a:rPr sz="2800" dirty="0"/>
              <a:t>online</a:t>
            </a:r>
            <a:r>
              <a:rPr sz="2800" spc="-55" dirty="0"/>
              <a:t> </a:t>
            </a:r>
            <a:r>
              <a:rPr sz="2800" dirty="0"/>
              <a:t>backup</a:t>
            </a:r>
            <a:r>
              <a:rPr sz="2800" spc="-60" dirty="0"/>
              <a:t> </a:t>
            </a:r>
            <a:r>
              <a:rPr sz="2800" dirty="0"/>
              <a:t>and</a:t>
            </a:r>
            <a:r>
              <a:rPr sz="2800" spc="-55" dirty="0"/>
              <a:t> </a:t>
            </a:r>
            <a:r>
              <a:rPr sz="2800" dirty="0"/>
              <a:t>device</a:t>
            </a:r>
            <a:r>
              <a:rPr sz="2800" spc="-55" dirty="0"/>
              <a:t> </a:t>
            </a:r>
            <a:r>
              <a:rPr sz="2800" dirty="0"/>
              <a:t>protection</a:t>
            </a:r>
            <a:r>
              <a:rPr sz="2800" spc="-55" dirty="0"/>
              <a:t> </a:t>
            </a:r>
            <a:r>
              <a:rPr sz="2800" dirty="0"/>
              <a:t>services,</a:t>
            </a:r>
            <a:r>
              <a:rPr sz="2800" spc="-60" dirty="0"/>
              <a:t> </a:t>
            </a:r>
            <a:r>
              <a:rPr sz="2800" dirty="0"/>
              <a:t>as</a:t>
            </a:r>
            <a:r>
              <a:rPr sz="2800" spc="-55" dirty="0"/>
              <a:t> </a:t>
            </a:r>
            <a:r>
              <a:rPr sz="2800" dirty="0"/>
              <a:t>these</a:t>
            </a:r>
            <a:r>
              <a:rPr sz="2800" spc="-55" dirty="0"/>
              <a:t> </a:t>
            </a:r>
            <a:r>
              <a:rPr sz="2800" dirty="0"/>
              <a:t>reduce</a:t>
            </a:r>
            <a:r>
              <a:rPr sz="2800" spc="-60" dirty="0"/>
              <a:t> </a:t>
            </a:r>
            <a:r>
              <a:rPr sz="2800" spc="-10" dirty="0"/>
              <a:t>churn. </a:t>
            </a:r>
            <a:r>
              <a:rPr sz="2800" dirty="0"/>
              <a:t>Monitor</a:t>
            </a:r>
            <a:r>
              <a:rPr sz="2800" spc="-55" dirty="0"/>
              <a:t> </a:t>
            </a:r>
            <a:r>
              <a:rPr sz="2800" dirty="0"/>
              <a:t>monthly</a:t>
            </a:r>
            <a:r>
              <a:rPr sz="2800" spc="-50" dirty="0"/>
              <a:t> </a:t>
            </a:r>
            <a:r>
              <a:rPr sz="2800" dirty="0"/>
              <a:t>charges</a:t>
            </a:r>
            <a:r>
              <a:rPr sz="2800" spc="-50" dirty="0"/>
              <a:t> </a:t>
            </a:r>
            <a:r>
              <a:rPr sz="2800" dirty="0"/>
              <a:t>and</a:t>
            </a:r>
            <a:r>
              <a:rPr sz="2800" spc="-50" dirty="0"/>
              <a:t> </a:t>
            </a:r>
            <a:r>
              <a:rPr sz="2800" dirty="0"/>
              <a:t>payment</a:t>
            </a:r>
            <a:r>
              <a:rPr sz="2800" spc="-55" dirty="0"/>
              <a:t> </a:t>
            </a:r>
            <a:r>
              <a:rPr sz="2800" dirty="0"/>
              <a:t>issues</a:t>
            </a:r>
            <a:r>
              <a:rPr sz="2800" spc="-50" dirty="0"/>
              <a:t> </a:t>
            </a:r>
            <a:r>
              <a:rPr sz="2800" dirty="0"/>
              <a:t>closely</a:t>
            </a:r>
            <a:r>
              <a:rPr sz="2800" spc="-50" dirty="0"/>
              <a:t> </a:t>
            </a:r>
            <a:r>
              <a:rPr sz="2800" dirty="0"/>
              <a:t>for</a:t>
            </a:r>
            <a:r>
              <a:rPr sz="2800" spc="-50" dirty="0"/>
              <a:t> </a:t>
            </a:r>
            <a:r>
              <a:rPr sz="2800" dirty="0"/>
              <a:t>early</a:t>
            </a:r>
            <a:r>
              <a:rPr sz="2800" spc="-55" dirty="0"/>
              <a:t> </a:t>
            </a:r>
            <a:r>
              <a:rPr sz="2800" dirty="0"/>
              <a:t>churn</a:t>
            </a:r>
            <a:r>
              <a:rPr sz="2800" spc="-50" dirty="0"/>
              <a:t> </a:t>
            </a:r>
            <a:r>
              <a:rPr sz="2800" spc="-10" dirty="0"/>
              <a:t>indicators.</a:t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0603" y="2704313"/>
            <a:ext cx="104774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88919" y="2353151"/>
            <a:ext cx="16054069" cy="620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64235">
              <a:lnSpc>
                <a:spcPct val="1317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Power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BI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dashboards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provided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clear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visibility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into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customer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churn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behavior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patterns. </a:t>
            </a:r>
            <a:r>
              <a:rPr sz="2800" b="1" dirty="0">
                <a:latin typeface="Times New Roman"/>
                <a:cs typeface="Times New Roman"/>
              </a:rPr>
              <a:t>Analysis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revealed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that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high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monthly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charges,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month-</a:t>
            </a:r>
            <a:r>
              <a:rPr sz="2800" b="1" spc="-10" dirty="0">
                <a:latin typeface="Times New Roman"/>
                <a:cs typeface="Times New Roman"/>
              </a:rPr>
              <a:t>to-</a:t>
            </a:r>
            <a:r>
              <a:rPr sz="2800" b="1" dirty="0">
                <a:latin typeface="Times New Roman"/>
                <a:cs typeface="Times New Roman"/>
              </a:rPr>
              <a:t>month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contracts,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fiber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optic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services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are </a:t>
            </a:r>
            <a:r>
              <a:rPr sz="2800" b="1" dirty="0">
                <a:latin typeface="Times New Roman"/>
                <a:cs typeface="Times New Roman"/>
              </a:rPr>
              <a:t>major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churn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drivers.</a:t>
            </a:r>
            <a:endParaRPr sz="2800">
              <a:latin typeface="Times New Roman"/>
              <a:cs typeface="Times New Roman"/>
            </a:endParaRPr>
          </a:p>
          <a:p>
            <a:pPr marL="12700" marR="389890" algn="just">
              <a:lnSpc>
                <a:spcPct val="131700"/>
              </a:lnSpc>
            </a:pPr>
            <a:r>
              <a:rPr sz="2800" b="1" dirty="0">
                <a:latin typeface="Times New Roman"/>
                <a:cs typeface="Times New Roman"/>
              </a:rPr>
              <a:t>Customers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with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longer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tenure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multiple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service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subscriptions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show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greater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loyalty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lower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churn. </a:t>
            </a:r>
            <a:r>
              <a:rPr sz="2800" b="1" dirty="0">
                <a:latin typeface="Times New Roman"/>
                <a:cs typeface="Times New Roman"/>
              </a:rPr>
              <a:t>Demographic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factors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such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senior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citizen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status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partner/dependent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presence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also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influence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churn </a:t>
            </a:r>
            <a:r>
              <a:rPr sz="2800" b="1" spc="-10" dirty="0">
                <a:latin typeface="Times New Roman"/>
                <a:cs typeface="Times New Roman"/>
              </a:rPr>
              <a:t>tendency.</a:t>
            </a:r>
            <a:endParaRPr sz="2800">
              <a:latin typeface="Times New Roman"/>
              <a:cs typeface="Times New Roman"/>
            </a:endParaRPr>
          </a:p>
          <a:p>
            <a:pPr marL="12700" marR="972819">
              <a:lnSpc>
                <a:spcPct val="131700"/>
              </a:lnSpc>
            </a:pP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insights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enable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company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design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targeted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retention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strategies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reduce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customer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loss. </a:t>
            </a:r>
            <a:r>
              <a:rPr sz="2800" b="1" dirty="0">
                <a:latin typeface="Times New Roman"/>
                <a:cs typeface="Times New Roman"/>
              </a:rPr>
              <a:t>Implementing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data-</a:t>
            </a:r>
            <a:r>
              <a:rPr sz="2800" b="1" dirty="0">
                <a:latin typeface="Times New Roman"/>
                <a:cs typeface="Times New Roman"/>
              </a:rPr>
              <a:t>driven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actions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can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help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boost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customer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satisfaction,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increase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retention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rate,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and </a:t>
            </a:r>
            <a:r>
              <a:rPr sz="2800" b="1" dirty="0">
                <a:latin typeface="Times New Roman"/>
                <a:cs typeface="Times New Roman"/>
              </a:rPr>
              <a:t>maximize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revenue.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31700"/>
              </a:lnSpc>
            </a:pPr>
            <a:r>
              <a:rPr sz="2800" b="1" dirty="0">
                <a:latin typeface="Times New Roman"/>
                <a:cs typeface="Times New Roman"/>
              </a:rPr>
              <a:t>Overall,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project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demonstrates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how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Power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BI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transforms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raw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data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into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actionable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business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insights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for </a:t>
            </a:r>
            <a:r>
              <a:rPr sz="2800" b="1" dirty="0">
                <a:latin typeface="Times New Roman"/>
                <a:cs typeface="Times New Roman"/>
              </a:rPr>
              <a:t>strategic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decision-making.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0603" y="3266287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0603" y="4390238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0603" y="4952212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0603" y="6076162"/>
            <a:ext cx="104774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0603" y="6638137"/>
            <a:ext cx="104774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0603" y="7762087"/>
            <a:ext cx="104774" cy="10477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028712" y="629009"/>
            <a:ext cx="1571625" cy="1567815"/>
          </a:xfrm>
          <a:custGeom>
            <a:avLst/>
            <a:gdLst/>
            <a:ahLst/>
            <a:cxnLst/>
            <a:rect l="l" t="t" r="r" b="b"/>
            <a:pathLst>
              <a:path w="1571625" h="1567814">
                <a:moveTo>
                  <a:pt x="56892" y="731068"/>
                </a:moveTo>
                <a:lnTo>
                  <a:pt x="56892" y="85456"/>
                </a:lnTo>
                <a:lnTo>
                  <a:pt x="66836" y="44084"/>
                </a:lnTo>
                <a:lnTo>
                  <a:pt x="93473" y="14432"/>
                </a:lnTo>
                <a:lnTo>
                  <a:pt x="132016" y="0"/>
                </a:lnTo>
                <a:lnTo>
                  <a:pt x="177674" y="4286"/>
                </a:lnTo>
                <a:lnTo>
                  <a:pt x="402253" y="71434"/>
                </a:lnTo>
                <a:lnTo>
                  <a:pt x="128635" y="71434"/>
                </a:lnTo>
                <a:lnTo>
                  <a:pt x="128635" y="727513"/>
                </a:lnTo>
                <a:lnTo>
                  <a:pt x="92731" y="727513"/>
                </a:lnTo>
                <a:lnTo>
                  <a:pt x="83709" y="727740"/>
                </a:lnTo>
                <a:lnTo>
                  <a:pt x="74726" y="728409"/>
                </a:lnTo>
                <a:lnTo>
                  <a:pt x="65787" y="729518"/>
                </a:lnTo>
                <a:lnTo>
                  <a:pt x="56892" y="731068"/>
                </a:lnTo>
                <a:close/>
              </a:path>
              <a:path w="1571625" h="1567814">
                <a:moveTo>
                  <a:pt x="1570292" y="1359063"/>
                </a:moveTo>
                <a:lnTo>
                  <a:pt x="1499936" y="1359063"/>
                </a:lnTo>
                <a:lnTo>
                  <a:pt x="1499936" y="517246"/>
                </a:lnTo>
                <a:lnTo>
                  <a:pt x="1496238" y="501119"/>
                </a:lnTo>
                <a:lnTo>
                  <a:pt x="1485993" y="484454"/>
                </a:lnTo>
                <a:lnTo>
                  <a:pt x="1470477" y="469949"/>
                </a:lnTo>
                <a:lnTo>
                  <a:pt x="1450963" y="460302"/>
                </a:lnTo>
                <a:lnTo>
                  <a:pt x="157148" y="73475"/>
                </a:lnTo>
                <a:lnTo>
                  <a:pt x="153029" y="72147"/>
                </a:lnTo>
                <a:lnTo>
                  <a:pt x="148602" y="71434"/>
                </a:lnTo>
                <a:lnTo>
                  <a:pt x="402253" y="71434"/>
                </a:lnTo>
                <a:lnTo>
                  <a:pt x="1470542" y="390849"/>
                </a:lnTo>
                <a:lnTo>
                  <a:pt x="1470697" y="390849"/>
                </a:lnTo>
                <a:lnTo>
                  <a:pt x="1510124" y="410012"/>
                </a:lnTo>
                <a:lnTo>
                  <a:pt x="1541970" y="439828"/>
                </a:lnTo>
                <a:lnTo>
                  <a:pt x="1563260" y="476556"/>
                </a:lnTo>
                <a:lnTo>
                  <a:pt x="1571019" y="516456"/>
                </a:lnTo>
                <a:lnTo>
                  <a:pt x="1571019" y="1344684"/>
                </a:lnTo>
                <a:lnTo>
                  <a:pt x="1571207" y="1350445"/>
                </a:lnTo>
                <a:lnTo>
                  <a:pt x="1570802" y="1356165"/>
                </a:lnTo>
                <a:lnTo>
                  <a:pt x="1570406" y="1358414"/>
                </a:lnTo>
                <a:lnTo>
                  <a:pt x="1570292" y="1359063"/>
                </a:lnTo>
                <a:close/>
              </a:path>
              <a:path w="1571625" h="1567814">
                <a:moveTo>
                  <a:pt x="1471423" y="391113"/>
                </a:moveTo>
                <a:lnTo>
                  <a:pt x="1470542" y="390849"/>
                </a:lnTo>
                <a:lnTo>
                  <a:pt x="1470697" y="390849"/>
                </a:lnTo>
                <a:lnTo>
                  <a:pt x="1471423" y="391113"/>
                </a:lnTo>
                <a:close/>
              </a:path>
              <a:path w="1571625" h="1567814">
                <a:moveTo>
                  <a:pt x="987637" y="1567590"/>
                </a:moveTo>
                <a:lnTo>
                  <a:pt x="987637" y="1566866"/>
                </a:lnTo>
                <a:lnTo>
                  <a:pt x="951551" y="1559587"/>
                </a:lnTo>
                <a:lnTo>
                  <a:pt x="922098" y="1539736"/>
                </a:lnTo>
                <a:lnTo>
                  <a:pt x="902248" y="1510293"/>
                </a:lnTo>
                <a:lnTo>
                  <a:pt x="894972" y="1474241"/>
                </a:lnTo>
                <a:lnTo>
                  <a:pt x="894972" y="612044"/>
                </a:lnTo>
                <a:lnTo>
                  <a:pt x="902286" y="575953"/>
                </a:lnTo>
                <a:lnTo>
                  <a:pt x="922184" y="546492"/>
                </a:lnTo>
                <a:lnTo>
                  <a:pt x="951652" y="526633"/>
                </a:lnTo>
                <a:lnTo>
                  <a:pt x="987637" y="519353"/>
                </a:lnTo>
                <a:lnTo>
                  <a:pt x="1023667" y="526633"/>
                </a:lnTo>
                <a:lnTo>
                  <a:pt x="1053126" y="546492"/>
                </a:lnTo>
                <a:lnTo>
                  <a:pt x="1073007" y="575953"/>
                </a:lnTo>
                <a:lnTo>
                  <a:pt x="1080302" y="612044"/>
                </a:lnTo>
                <a:lnTo>
                  <a:pt x="1080302" y="1474965"/>
                </a:lnTo>
                <a:lnTo>
                  <a:pt x="1073025" y="1511045"/>
                </a:lnTo>
                <a:lnTo>
                  <a:pt x="1053176" y="1540484"/>
                </a:lnTo>
                <a:lnTo>
                  <a:pt x="1023723" y="1560320"/>
                </a:lnTo>
                <a:lnTo>
                  <a:pt x="987637" y="1567590"/>
                </a:lnTo>
                <a:close/>
              </a:path>
              <a:path w="1571625" h="1567814">
                <a:moveTo>
                  <a:pt x="689287" y="1464042"/>
                </a:moveTo>
                <a:lnTo>
                  <a:pt x="688686" y="1464042"/>
                </a:lnTo>
                <a:lnTo>
                  <a:pt x="652620" y="1456767"/>
                </a:lnTo>
                <a:lnTo>
                  <a:pt x="653045" y="1456767"/>
                </a:lnTo>
                <a:lnTo>
                  <a:pt x="623702" y="1436931"/>
                </a:lnTo>
                <a:lnTo>
                  <a:pt x="606187" y="1410952"/>
                </a:lnTo>
                <a:lnTo>
                  <a:pt x="603903" y="1407492"/>
                </a:lnTo>
                <a:lnTo>
                  <a:pt x="596648" y="1371544"/>
                </a:lnTo>
                <a:lnTo>
                  <a:pt x="596648" y="714544"/>
                </a:lnTo>
                <a:lnTo>
                  <a:pt x="603943" y="678464"/>
                </a:lnTo>
                <a:lnTo>
                  <a:pt x="623823" y="649025"/>
                </a:lnTo>
                <a:lnTo>
                  <a:pt x="653283" y="629189"/>
                </a:lnTo>
                <a:lnTo>
                  <a:pt x="689313" y="621918"/>
                </a:lnTo>
                <a:lnTo>
                  <a:pt x="725297" y="629189"/>
                </a:lnTo>
                <a:lnTo>
                  <a:pt x="754766" y="649025"/>
                </a:lnTo>
                <a:lnTo>
                  <a:pt x="774664" y="678464"/>
                </a:lnTo>
                <a:lnTo>
                  <a:pt x="781978" y="714544"/>
                </a:lnTo>
                <a:lnTo>
                  <a:pt x="781951" y="1371544"/>
                </a:lnTo>
                <a:lnTo>
                  <a:pt x="774701" y="1407492"/>
                </a:lnTo>
                <a:lnTo>
                  <a:pt x="754852" y="1436931"/>
                </a:lnTo>
                <a:lnTo>
                  <a:pt x="725399" y="1456767"/>
                </a:lnTo>
                <a:lnTo>
                  <a:pt x="689287" y="1464042"/>
                </a:lnTo>
                <a:close/>
              </a:path>
              <a:path w="1571625" h="1567814">
                <a:moveTo>
                  <a:pt x="390989" y="1366343"/>
                </a:moveTo>
                <a:lnTo>
                  <a:pt x="354903" y="1359063"/>
                </a:lnTo>
                <a:lnTo>
                  <a:pt x="325450" y="1339212"/>
                </a:lnTo>
                <a:lnTo>
                  <a:pt x="305600" y="1309770"/>
                </a:lnTo>
                <a:lnTo>
                  <a:pt x="298324" y="1273718"/>
                </a:lnTo>
                <a:lnTo>
                  <a:pt x="298324" y="812896"/>
                </a:lnTo>
                <a:lnTo>
                  <a:pt x="325450" y="747377"/>
                </a:lnTo>
                <a:lnTo>
                  <a:pt x="390989" y="720271"/>
                </a:lnTo>
                <a:lnTo>
                  <a:pt x="426897" y="727513"/>
                </a:lnTo>
                <a:lnTo>
                  <a:pt x="427029" y="727513"/>
                </a:lnTo>
                <a:lnTo>
                  <a:pt x="456524" y="747377"/>
                </a:lnTo>
                <a:lnTo>
                  <a:pt x="476414" y="776816"/>
                </a:lnTo>
                <a:lnTo>
                  <a:pt x="483720" y="812896"/>
                </a:lnTo>
                <a:lnTo>
                  <a:pt x="483720" y="1273718"/>
                </a:lnTo>
                <a:lnTo>
                  <a:pt x="476429" y="1309770"/>
                </a:lnTo>
                <a:lnTo>
                  <a:pt x="456553" y="1339212"/>
                </a:lnTo>
                <a:lnTo>
                  <a:pt x="427071" y="1359063"/>
                </a:lnTo>
                <a:lnTo>
                  <a:pt x="390989" y="1366343"/>
                </a:lnTo>
                <a:close/>
              </a:path>
              <a:path w="1571625" h="1567814">
                <a:moveTo>
                  <a:pt x="128635" y="731068"/>
                </a:moveTo>
                <a:lnTo>
                  <a:pt x="119725" y="729518"/>
                </a:lnTo>
                <a:lnTo>
                  <a:pt x="110771" y="728409"/>
                </a:lnTo>
                <a:lnTo>
                  <a:pt x="101773" y="727740"/>
                </a:lnTo>
                <a:lnTo>
                  <a:pt x="92731" y="727513"/>
                </a:lnTo>
                <a:lnTo>
                  <a:pt x="128635" y="727513"/>
                </a:lnTo>
                <a:lnTo>
                  <a:pt x="128635" y="731068"/>
                </a:lnTo>
                <a:close/>
              </a:path>
              <a:path w="1571625" h="1567814">
                <a:moveTo>
                  <a:pt x="92978" y="1266281"/>
                </a:moveTo>
                <a:lnTo>
                  <a:pt x="92678" y="1266281"/>
                </a:lnTo>
                <a:lnTo>
                  <a:pt x="56607" y="1258999"/>
                </a:lnTo>
                <a:lnTo>
                  <a:pt x="27151" y="1239148"/>
                </a:lnTo>
                <a:lnTo>
                  <a:pt x="7285" y="1209706"/>
                </a:lnTo>
                <a:lnTo>
                  <a:pt x="0" y="1173654"/>
                </a:lnTo>
                <a:lnTo>
                  <a:pt x="0" y="912763"/>
                </a:lnTo>
                <a:lnTo>
                  <a:pt x="7295" y="876711"/>
                </a:lnTo>
                <a:lnTo>
                  <a:pt x="27175" y="847268"/>
                </a:lnTo>
                <a:lnTo>
                  <a:pt x="56634" y="827417"/>
                </a:lnTo>
                <a:lnTo>
                  <a:pt x="92665" y="820138"/>
                </a:lnTo>
                <a:lnTo>
                  <a:pt x="98539" y="820138"/>
                </a:lnTo>
                <a:lnTo>
                  <a:pt x="139090" y="832473"/>
                </a:lnTo>
                <a:lnTo>
                  <a:pt x="173095" y="866440"/>
                </a:lnTo>
                <a:lnTo>
                  <a:pt x="185383" y="906690"/>
                </a:lnTo>
                <a:lnTo>
                  <a:pt x="185396" y="1173654"/>
                </a:lnTo>
                <a:lnTo>
                  <a:pt x="178113" y="1209706"/>
                </a:lnTo>
                <a:lnTo>
                  <a:pt x="158256" y="1239148"/>
                </a:lnTo>
                <a:lnTo>
                  <a:pt x="128831" y="1258999"/>
                </a:lnTo>
                <a:lnTo>
                  <a:pt x="129059" y="1258999"/>
                </a:lnTo>
                <a:lnTo>
                  <a:pt x="92978" y="1266281"/>
                </a:lnTo>
                <a:close/>
              </a:path>
              <a:path w="1571625" h="1567814">
                <a:moveTo>
                  <a:pt x="1489208" y="1431186"/>
                </a:moveTo>
                <a:lnTo>
                  <a:pt x="1450237" y="1425855"/>
                </a:lnTo>
                <a:lnTo>
                  <a:pt x="1173033" y="1342709"/>
                </a:lnTo>
                <a:lnTo>
                  <a:pt x="1173033" y="1267991"/>
                </a:lnTo>
                <a:lnTo>
                  <a:pt x="1471489" y="1357061"/>
                </a:lnTo>
                <a:lnTo>
                  <a:pt x="1475582" y="1358414"/>
                </a:lnTo>
                <a:lnTo>
                  <a:pt x="1479592" y="1359063"/>
                </a:lnTo>
                <a:lnTo>
                  <a:pt x="1570292" y="1359063"/>
                </a:lnTo>
                <a:lnTo>
                  <a:pt x="1568806" y="1367519"/>
                </a:lnTo>
                <a:lnTo>
                  <a:pt x="1550241" y="1402853"/>
                </a:lnTo>
                <a:lnTo>
                  <a:pt x="1511905" y="1427517"/>
                </a:lnTo>
                <a:lnTo>
                  <a:pt x="1494947" y="1430856"/>
                </a:lnTo>
                <a:lnTo>
                  <a:pt x="1489208" y="143118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24835" y="115587"/>
            <a:ext cx="13735050" cy="10171430"/>
            <a:chOff x="4324835" y="115587"/>
            <a:chExt cx="13735050" cy="101714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21346" y="9277476"/>
              <a:ext cx="4838128" cy="1009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324835" y="115587"/>
              <a:ext cx="9636125" cy="9639300"/>
            </a:xfrm>
            <a:custGeom>
              <a:avLst/>
              <a:gdLst/>
              <a:ahLst/>
              <a:cxnLst/>
              <a:rect l="l" t="t" r="r" b="b"/>
              <a:pathLst>
                <a:path w="9636125" h="9639300">
                  <a:moveTo>
                    <a:pt x="348943" y="4495800"/>
                  </a:moveTo>
                  <a:lnTo>
                    <a:pt x="348943" y="520700"/>
                  </a:lnTo>
                  <a:lnTo>
                    <a:pt x="350750" y="482600"/>
                  </a:lnTo>
                  <a:lnTo>
                    <a:pt x="356082" y="431800"/>
                  </a:lnTo>
                  <a:lnTo>
                    <a:pt x="364801" y="393700"/>
                  </a:lnTo>
                  <a:lnTo>
                    <a:pt x="376773" y="342900"/>
                  </a:lnTo>
                  <a:lnTo>
                    <a:pt x="391861" y="304800"/>
                  </a:lnTo>
                  <a:lnTo>
                    <a:pt x="409929" y="266700"/>
                  </a:lnTo>
                  <a:lnTo>
                    <a:pt x="430842" y="228600"/>
                  </a:lnTo>
                  <a:lnTo>
                    <a:pt x="454462" y="203200"/>
                  </a:lnTo>
                  <a:lnTo>
                    <a:pt x="480655" y="165100"/>
                  </a:lnTo>
                  <a:lnTo>
                    <a:pt x="509284" y="139700"/>
                  </a:lnTo>
                  <a:lnTo>
                    <a:pt x="540213" y="114300"/>
                  </a:lnTo>
                  <a:lnTo>
                    <a:pt x="573306" y="88900"/>
                  </a:lnTo>
                  <a:lnTo>
                    <a:pt x="608428" y="63500"/>
                  </a:lnTo>
                  <a:lnTo>
                    <a:pt x="645442" y="50800"/>
                  </a:lnTo>
                  <a:lnTo>
                    <a:pt x="684212" y="25400"/>
                  </a:lnTo>
                  <a:lnTo>
                    <a:pt x="724602" y="12700"/>
                  </a:lnTo>
                  <a:lnTo>
                    <a:pt x="766477" y="0"/>
                  </a:lnTo>
                  <a:lnTo>
                    <a:pt x="993355" y="0"/>
                  </a:lnTo>
                  <a:lnTo>
                    <a:pt x="1089737" y="25400"/>
                  </a:lnTo>
                  <a:lnTo>
                    <a:pt x="2447597" y="431800"/>
                  </a:lnTo>
                  <a:lnTo>
                    <a:pt x="886119" y="431800"/>
                  </a:lnTo>
                  <a:lnTo>
                    <a:pt x="829953" y="444500"/>
                  </a:lnTo>
                  <a:lnTo>
                    <a:pt x="801110" y="469900"/>
                  </a:lnTo>
                  <a:lnTo>
                    <a:pt x="790484" y="508000"/>
                  </a:lnTo>
                  <a:lnTo>
                    <a:pt x="788966" y="533400"/>
                  </a:lnTo>
                  <a:lnTo>
                    <a:pt x="788966" y="4470400"/>
                  </a:lnTo>
                  <a:lnTo>
                    <a:pt x="513395" y="4470400"/>
                  </a:lnTo>
                  <a:lnTo>
                    <a:pt x="458308" y="4483100"/>
                  </a:lnTo>
                  <a:lnTo>
                    <a:pt x="403491" y="4483100"/>
                  </a:lnTo>
                  <a:lnTo>
                    <a:pt x="348943" y="4495800"/>
                  </a:lnTo>
                  <a:close/>
                </a:path>
                <a:path w="9636125" h="9639300">
                  <a:moveTo>
                    <a:pt x="9630253" y="8356600"/>
                  </a:moveTo>
                  <a:lnTo>
                    <a:pt x="9102456" y="8356600"/>
                  </a:lnTo>
                  <a:lnTo>
                    <a:pt x="9158623" y="8343900"/>
                  </a:lnTo>
                  <a:lnTo>
                    <a:pt x="9187466" y="8318500"/>
                  </a:lnTo>
                  <a:lnTo>
                    <a:pt x="9198092" y="8293100"/>
                  </a:lnTo>
                  <a:lnTo>
                    <a:pt x="9199610" y="8267700"/>
                  </a:lnTo>
                  <a:lnTo>
                    <a:pt x="9199610" y="3175000"/>
                  </a:lnTo>
                  <a:lnTo>
                    <a:pt x="9195856" y="3136900"/>
                  </a:lnTo>
                  <a:lnTo>
                    <a:pt x="9184927" y="3098800"/>
                  </a:lnTo>
                  <a:lnTo>
                    <a:pt x="9167323" y="3060700"/>
                  </a:lnTo>
                  <a:lnTo>
                    <a:pt x="9143546" y="3022600"/>
                  </a:lnTo>
                  <a:lnTo>
                    <a:pt x="9114095" y="2971800"/>
                  </a:lnTo>
                  <a:lnTo>
                    <a:pt x="9079470" y="2933700"/>
                  </a:lnTo>
                  <a:lnTo>
                    <a:pt x="9040172" y="2908300"/>
                  </a:lnTo>
                  <a:lnTo>
                    <a:pt x="8996702" y="2870200"/>
                  </a:lnTo>
                  <a:lnTo>
                    <a:pt x="8949559" y="2844800"/>
                  </a:lnTo>
                  <a:lnTo>
                    <a:pt x="8899244" y="2832100"/>
                  </a:lnTo>
                  <a:lnTo>
                    <a:pt x="963842" y="444500"/>
                  </a:lnTo>
                  <a:lnTo>
                    <a:pt x="905912" y="444500"/>
                  </a:lnTo>
                  <a:lnTo>
                    <a:pt x="886119" y="431800"/>
                  </a:lnTo>
                  <a:lnTo>
                    <a:pt x="2447597" y="431800"/>
                  </a:lnTo>
                  <a:lnTo>
                    <a:pt x="9024733" y="2400300"/>
                  </a:lnTo>
                  <a:lnTo>
                    <a:pt x="9020279" y="2400300"/>
                  </a:lnTo>
                  <a:lnTo>
                    <a:pt x="9066881" y="2413000"/>
                  </a:lnTo>
                  <a:lnTo>
                    <a:pt x="9112439" y="2438400"/>
                  </a:lnTo>
                  <a:lnTo>
                    <a:pt x="9156844" y="2451100"/>
                  </a:lnTo>
                  <a:lnTo>
                    <a:pt x="9199987" y="2476500"/>
                  </a:lnTo>
                  <a:lnTo>
                    <a:pt x="9241757" y="2501900"/>
                  </a:lnTo>
                  <a:lnTo>
                    <a:pt x="9282046" y="2540000"/>
                  </a:lnTo>
                  <a:lnTo>
                    <a:pt x="9320743" y="2565400"/>
                  </a:lnTo>
                  <a:lnTo>
                    <a:pt x="9357738" y="2590800"/>
                  </a:lnTo>
                  <a:lnTo>
                    <a:pt x="9392922" y="2628900"/>
                  </a:lnTo>
                  <a:lnTo>
                    <a:pt x="9426186" y="2667000"/>
                  </a:lnTo>
                  <a:lnTo>
                    <a:pt x="9457419" y="2705100"/>
                  </a:lnTo>
                  <a:lnTo>
                    <a:pt x="9486511" y="2743200"/>
                  </a:lnTo>
                  <a:lnTo>
                    <a:pt x="9513354" y="2781300"/>
                  </a:lnTo>
                  <a:lnTo>
                    <a:pt x="9537837" y="2819400"/>
                  </a:lnTo>
                  <a:lnTo>
                    <a:pt x="9559850" y="2870200"/>
                  </a:lnTo>
                  <a:lnTo>
                    <a:pt x="9579284" y="2908300"/>
                  </a:lnTo>
                  <a:lnTo>
                    <a:pt x="9596030" y="2946400"/>
                  </a:lnTo>
                  <a:lnTo>
                    <a:pt x="9609976" y="2997200"/>
                  </a:lnTo>
                  <a:lnTo>
                    <a:pt x="9621015" y="3035300"/>
                  </a:lnTo>
                  <a:lnTo>
                    <a:pt x="9629035" y="3086100"/>
                  </a:lnTo>
                  <a:lnTo>
                    <a:pt x="9633928" y="3124200"/>
                  </a:lnTo>
                  <a:lnTo>
                    <a:pt x="9635584" y="3175000"/>
                  </a:lnTo>
                  <a:lnTo>
                    <a:pt x="9635584" y="8267700"/>
                  </a:lnTo>
                  <a:lnTo>
                    <a:pt x="9635845" y="8280400"/>
                  </a:lnTo>
                  <a:lnTo>
                    <a:pt x="9634580" y="8318500"/>
                  </a:lnTo>
                  <a:lnTo>
                    <a:pt x="9632034" y="8343900"/>
                  </a:lnTo>
                  <a:lnTo>
                    <a:pt x="9630253" y="8356600"/>
                  </a:lnTo>
                  <a:close/>
                </a:path>
                <a:path w="9636125" h="9639300">
                  <a:moveTo>
                    <a:pt x="6106467" y="3200400"/>
                  </a:moveTo>
                  <a:lnTo>
                    <a:pt x="6008551" y="3200400"/>
                  </a:lnTo>
                  <a:lnTo>
                    <a:pt x="6057509" y="3187700"/>
                  </a:lnTo>
                  <a:lnTo>
                    <a:pt x="6106467" y="3200400"/>
                  </a:lnTo>
                  <a:close/>
                </a:path>
                <a:path w="9636125" h="9639300">
                  <a:moveTo>
                    <a:pt x="6201061" y="9626600"/>
                  </a:moveTo>
                  <a:lnTo>
                    <a:pt x="5960529" y="9626600"/>
                  </a:lnTo>
                  <a:lnTo>
                    <a:pt x="5868891" y="9601200"/>
                  </a:lnTo>
                  <a:lnTo>
                    <a:pt x="5825501" y="9588500"/>
                  </a:lnTo>
                  <a:lnTo>
                    <a:pt x="5783956" y="9563100"/>
                  </a:lnTo>
                  <a:lnTo>
                    <a:pt x="5744427" y="9537700"/>
                  </a:lnTo>
                  <a:lnTo>
                    <a:pt x="5707083" y="9512300"/>
                  </a:lnTo>
                  <a:lnTo>
                    <a:pt x="5672095" y="9486900"/>
                  </a:lnTo>
                  <a:lnTo>
                    <a:pt x="5639632" y="9448800"/>
                  </a:lnTo>
                  <a:lnTo>
                    <a:pt x="5609865" y="9410700"/>
                  </a:lnTo>
                  <a:lnTo>
                    <a:pt x="5582964" y="9372600"/>
                  </a:lnTo>
                  <a:lnTo>
                    <a:pt x="5559097" y="9334500"/>
                  </a:lnTo>
                  <a:lnTo>
                    <a:pt x="5538436" y="9296400"/>
                  </a:lnTo>
                  <a:lnTo>
                    <a:pt x="5521151" y="9258300"/>
                  </a:lnTo>
                  <a:lnTo>
                    <a:pt x="5507411" y="9207500"/>
                  </a:lnTo>
                  <a:lnTo>
                    <a:pt x="5497386" y="9156700"/>
                  </a:lnTo>
                  <a:lnTo>
                    <a:pt x="5491246" y="9118600"/>
                  </a:lnTo>
                  <a:lnTo>
                    <a:pt x="5489162" y="9067800"/>
                  </a:lnTo>
                  <a:lnTo>
                    <a:pt x="5489162" y="3759200"/>
                  </a:lnTo>
                  <a:lnTo>
                    <a:pt x="5491253" y="3708400"/>
                  </a:lnTo>
                  <a:lnTo>
                    <a:pt x="5497410" y="3670300"/>
                  </a:lnTo>
                  <a:lnTo>
                    <a:pt x="5507462" y="3619500"/>
                  </a:lnTo>
                  <a:lnTo>
                    <a:pt x="5521236" y="3568700"/>
                  </a:lnTo>
                  <a:lnTo>
                    <a:pt x="5538560" y="3530600"/>
                  </a:lnTo>
                  <a:lnTo>
                    <a:pt x="5559263" y="3492500"/>
                  </a:lnTo>
                  <a:lnTo>
                    <a:pt x="5583172" y="3454400"/>
                  </a:lnTo>
                  <a:lnTo>
                    <a:pt x="5610114" y="3416300"/>
                  </a:lnTo>
                  <a:lnTo>
                    <a:pt x="5639919" y="3378200"/>
                  </a:lnTo>
                  <a:lnTo>
                    <a:pt x="5672413" y="3340100"/>
                  </a:lnTo>
                  <a:lnTo>
                    <a:pt x="5707425" y="3314700"/>
                  </a:lnTo>
                  <a:lnTo>
                    <a:pt x="5744783" y="3289300"/>
                  </a:lnTo>
                  <a:lnTo>
                    <a:pt x="5784315" y="3263900"/>
                  </a:lnTo>
                  <a:lnTo>
                    <a:pt x="5825847" y="3238500"/>
                  </a:lnTo>
                  <a:lnTo>
                    <a:pt x="5869209" y="3225800"/>
                  </a:lnTo>
                  <a:lnTo>
                    <a:pt x="5960733" y="3200400"/>
                  </a:lnTo>
                  <a:lnTo>
                    <a:pt x="6154285" y="3200400"/>
                  </a:lnTo>
                  <a:lnTo>
                    <a:pt x="6245808" y="3225800"/>
                  </a:lnTo>
                  <a:lnTo>
                    <a:pt x="6289170" y="3238500"/>
                  </a:lnTo>
                  <a:lnTo>
                    <a:pt x="6330703" y="3263900"/>
                  </a:lnTo>
                  <a:lnTo>
                    <a:pt x="6370234" y="3289300"/>
                  </a:lnTo>
                  <a:lnTo>
                    <a:pt x="6407592" y="3314700"/>
                  </a:lnTo>
                  <a:lnTo>
                    <a:pt x="6442604" y="3340100"/>
                  </a:lnTo>
                  <a:lnTo>
                    <a:pt x="6475099" y="3378200"/>
                  </a:lnTo>
                  <a:lnTo>
                    <a:pt x="6504903" y="3416300"/>
                  </a:lnTo>
                  <a:lnTo>
                    <a:pt x="6531846" y="3454400"/>
                  </a:lnTo>
                  <a:lnTo>
                    <a:pt x="6555755" y="3492500"/>
                  </a:lnTo>
                  <a:lnTo>
                    <a:pt x="6576457" y="3530600"/>
                  </a:lnTo>
                  <a:lnTo>
                    <a:pt x="6593782" y="3568700"/>
                  </a:lnTo>
                  <a:lnTo>
                    <a:pt x="6607556" y="3619500"/>
                  </a:lnTo>
                  <a:lnTo>
                    <a:pt x="6617608" y="3670300"/>
                  </a:lnTo>
                  <a:lnTo>
                    <a:pt x="6623765" y="3708400"/>
                  </a:lnTo>
                  <a:lnTo>
                    <a:pt x="6625855" y="3759200"/>
                  </a:lnTo>
                  <a:lnTo>
                    <a:pt x="6625855" y="9067800"/>
                  </a:lnTo>
                  <a:lnTo>
                    <a:pt x="6623771" y="9118600"/>
                  </a:lnTo>
                  <a:lnTo>
                    <a:pt x="6617632" y="9169400"/>
                  </a:lnTo>
                  <a:lnTo>
                    <a:pt x="6607607" y="9207500"/>
                  </a:lnTo>
                  <a:lnTo>
                    <a:pt x="6593867" y="9258300"/>
                  </a:lnTo>
                  <a:lnTo>
                    <a:pt x="6576581" y="9296400"/>
                  </a:lnTo>
                  <a:lnTo>
                    <a:pt x="6555920" y="9347200"/>
                  </a:lnTo>
                  <a:lnTo>
                    <a:pt x="6532054" y="9385300"/>
                  </a:lnTo>
                  <a:lnTo>
                    <a:pt x="6505153" y="9423400"/>
                  </a:lnTo>
                  <a:lnTo>
                    <a:pt x="6475385" y="9461500"/>
                  </a:lnTo>
                  <a:lnTo>
                    <a:pt x="6442923" y="9486900"/>
                  </a:lnTo>
                  <a:lnTo>
                    <a:pt x="6407935" y="9512300"/>
                  </a:lnTo>
                  <a:lnTo>
                    <a:pt x="6370591" y="9550400"/>
                  </a:lnTo>
                  <a:lnTo>
                    <a:pt x="6331062" y="9563100"/>
                  </a:lnTo>
                  <a:lnTo>
                    <a:pt x="6289517" y="9588500"/>
                  </a:lnTo>
                  <a:lnTo>
                    <a:pt x="6246127" y="9601200"/>
                  </a:lnTo>
                  <a:lnTo>
                    <a:pt x="6201061" y="9626600"/>
                  </a:lnTo>
                  <a:close/>
                </a:path>
                <a:path w="9636125" h="9639300">
                  <a:moveTo>
                    <a:pt x="4324564" y="3835400"/>
                  </a:moveTo>
                  <a:lnTo>
                    <a:pt x="4131012" y="3835400"/>
                  </a:lnTo>
                  <a:lnTo>
                    <a:pt x="4178830" y="3822700"/>
                  </a:lnTo>
                  <a:lnTo>
                    <a:pt x="4276746" y="3822700"/>
                  </a:lnTo>
                  <a:lnTo>
                    <a:pt x="4324564" y="3835400"/>
                  </a:lnTo>
                  <a:close/>
                </a:path>
                <a:path w="9636125" h="9639300">
                  <a:moveTo>
                    <a:pt x="4276861" y="9004300"/>
                  </a:moveTo>
                  <a:lnTo>
                    <a:pt x="4178715" y="9004300"/>
                  </a:lnTo>
                  <a:lnTo>
                    <a:pt x="4130808" y="8991600"/>
                  </a:lnTo>
                  <a:lnTo>
                    <a:pt x="4039170" y="8966200"/>
                  </a:lnTo>
                  <a:lnTo>
                    <a:pt x="3995780" y="8953500"/>
                  </a:lnTo>
                  <a:lnTo>
                    <a:pt x="3954235" y="8928100"/>
                  </a:lnTo>
                  <a:lnTo>
                    <a:pt x="3914706" y="8902700"/>
                  </a:lnTo>
                  <a:lnTo>
                    <a:pt x="3877362" y="8877300"/>
                  </a:lnTo>
                  <a:lnTo>
                    <a:pt x="3842374" y="8851900"/>
                  </a:lnTo>
                  <a:lnTo>
                    <a:pt x="3809912" y="8813800"/>
                  </a:lnTo>
                  <a:lnTo>
                    <a:pt x="3780144" y="8788400"/>
                  </a:lnTo>
                  <a:lnTo>
                    <a:pt x="3753243" y="8750300"/>
                  </a:lnTo>
                  <a:lnTo>
                    <a:pt x="3729377" y="8712200"/>
                  </a:lnTo>
                  <a:lnTo>
                    <a:pt x="3708716" y="8661400"/>
                  </a:lnTo>
                  <a:lnTo>
                    <a:pt x="3691430" y="8623300"/>
                  </a:lnTo>
                  <a:lnTo>
                    <a:pt x="3677690" y="8572500"/>
                  </a:lnTo>
                  <a:lnTo>
                    <a:pt x="3667665" y="8534400"/>
                  </a:lnTo>
                  <a:lnTo>
                    <a:pt x="3661526" y="8483600"/>
                  </a:lnTo>
                  <a:lnTo>
                    <a:pt x="3659442" y="8432800"/>
                  </a:lnTo>
                  <a:lnTo>
                    <a:pt x="3659442" y="4394200"/>
                  </a:lnTo>
                  <a:lnTo>
                    <a:pt x="3661532" y="4343400"/>
                  </a:lnTo>
                  <a:lnTo>
                    <a:pt x="3667689" y="4292600"/>
                  </a:lnTo>
                  <a:lnTo>
                    <a:pt x="3677741" y="4254500"/>
                  </a:lnTo>
                  <a:lnTo>
                    <a:pt x="3691515" y="4203700"/>
                  </a:lnTo>
                  <a:lnTo>
                    <a:pt x="3708840" y="4165600"/>
                  </a:lnTo>
                  <a:lnTo>
                    <a:pt x="3729542" y="4114800"/>
                  </a:lnTo>
                  <a:lnTo>
                    <a:pt x="3753451" y="4076700"/>
                  </a:lnTo>
                  <a:lnTo>
                    <a:pt x="3780394" y="4038600"/>
                  </a:lnTo>
                  <a:lnTo>
                    <a:pt x="3810198" y="4000500"/>
                  </a:lnTo>
                  <a:lnTo>
                    <a:pt x="3842693" y="3975100"/>
                  </a:lnTo>
                  <a:lnTo>
                    <a:pt x="3877705" y="3949700"/>
                  </a:lnTo>
                  <a:lnTo>
                    <a:pt x="3915063" y="3911600"/>
                  </a:lnTo>
                  <a:lnTo>
                    <a:pt x="3954594" y="3898900"/>
                  </a:lnTo>
                  <a:lnTo>
                    <a:pt x="3996127" y="3873500"/>
                  </a:lnTo>
                  <a:lnTo>
                    <a:pt x="4039489" y="3860800"/>
                  </a:lnTo>
                  <a:lnTo>
                    <a:pt x="4084508" y="3835400"/>
                  </a:lnTo>
                  <a:lnTo>
                    <a:pt x="4371068" y="3835400"/>
                  </a:lnTo>
                  <a:lnTo>
                    <a:pt x="4416087" y="3860800"/>
                  </a:lnTo>
                  <a:lnTo>
                    <a:pt x="4459449" y="3873500"/>
                  </a:lnTo>
                  <a:lnTo>
                    <a:pt x="4500982" y="3898900"/>
                  </a:lnTo>
                  <a:lnTo>
                    <a:pt x="4540513" y="3911600"/>
                  </a:lnTo>
                  <a:lnTo>
                    <a:pt x="4577871" y="3949700"/>
                  </a:lnTo>
                  <a:lnTo>
                    <a:pt x="4612883" y="3975100"/>
                  </a:lnTo>
                  <a:lnTo>
                    <a:pt x="4645378" y="4000500"/>
                  </a:lnTo>
                  <a:lnTo>
                    <a:pt x="4675182" y="4038600"/>
                  </a:lnTo>
                  <a:lnTo>
                    <a:pt x="4702125" y="4076700"/>
                  </a:lnTo>
                  <a:lnTo>
                    <a:pt x="4726034" y="4114800"/>
                  </a:lnTo>
                  <a:lnTo>
                    <a:pt x="4746736" y="4165600"/>
                  </a:lnTo>
                  <a:lnTo>
                    <a:pt x="4764061" y="4203700"/>
                  </a:lnTo>
                  <a:lnTo>
                    <a:pt x="4777835" y="4254500"/>
                  </a:lnTo>
                  <a:lnTo>
                    <a:pt x="4787887" y="4292600"/>
                  </a:lnTo>
                  <a:lnTo>
                    <a:pt x="4794044" y="4343400"/>
                  </a:lnTo>
                  <a:lnTo>
                    <a:pt x="4796134" y="4394200"/>
                  </a:lnTo>
                  <a:lnTo>
                    <a:pt x="4796134" y="8432800"/>
                  </a:lnTo>
                  <a:lnTo>
                    <a:pt x="4794050" y="8483600"/>
                  </a:lnTo>
                  <a:lnTo>
                    <a:pt x="4787911" y="8534400"/>
                  </a:lnTo>
                  <a:lnTo>
                    <a:pt x="4777886" y="8572500"/>
                  </a:lnTo>
                  <a:lnTo>
                    <a:pt x="4764146" y="8623300"/>
                  </a:lnTo>
                  <a:lnTo>
                    <a:pt x="4746860" y="8661400"/>
                  </a:lnTo>
                  <a:lnTo>
                    <a:pt x="4726199" y="8712200"/>
                  </a:lnTo>
                  <a:lnTo>
                    <a:pt x="4702333" y="8750300"/>
                  </a:lnTo>
                  <a:lnTo>
                    <a:pt x="4675432" y="8788400"/>
                  </a:lnTo>
                  <a:lnTo>
                    <a:pt x="4645664" y="8813800"/>
                  </a:lnTo>
                  <a:lnTo>
                    <a:pt x="4613202" y="8851900"/>
                  </a:lnTo>
                  <a:lnTo>
                    <a:pt x="4578214" y="8877300"/>
                  </a:lnTo>
                  <a:lnTo>
                    <a:pt x="4540870" y="8902700"/>
                  </a:lnTo>
                  <a:lnTo>
                    <a:pt x="4501341" y="8928100"/>
                  </a:lnTo>
                  <a:lnTo>
                    <a:pt x="4459796" y="8953500"/>
                  </a:lnTo>
                  <a:lnTo>
                    <a:pt x="4416406" y="8966200"/>
                  </a:lnTo>
                  <a:lnTo>
                    <a:pt x="4324768" y="8991600"/>
                  </a:lnTo>
                  <a:lnTo>
                    <a:pt x="4276861" y="9004300"/>
                  </a:lnTo>
                  <a:close/>
                </a:path>
                <a:path w="9636125" h="9639300">
                  <a:moveTo>
                    <a:pt x="2494958" y="8394700"/>
                  </a:moveTo>
                  <a:lnTo>
                    <a:pt x="2301087" y="8394700"/>
                  </a:lnTo>
                  <a:lnTo>
                    <a:pt x="2209449" y="8369300"/>
                  </a:lnTo>
                  <a:lnTo>
                    <a:pt x="2166059" y="8356600"/>
                  </a:lnTo>
                  <a:lnTo>
                    <a:pt x="2124514" y="8331200"/>
                  </a:lnTo>
                  <a:lnTo>
                    <a:pt x="2084985" y="8305800"/>
                  </a:lnTo>
                  <a:lnTo>
                    <a:pt x="2047641" y="8280400"/>
                  </a:lnTo>
                  <a:lnTo>
                    <a:pt x="2012653" y="8255000"/>
                  </a:lnTo>
                  <a:lnTo>
                    <a:pt x="1980191" y="8216900"/>
                  </a:lnTo>
                  <a:lnTo>
                    <a:pt x="1950424" y="8178800"/>
                  </a:lnTo>
                  <a:lnTo>
                    <a:pt x="1923522" y="8140700"/>
                  </a:lnTo>
                  <a:lnTo>
                    <a:pt x="1899656" y="8102600"/>
                  </a:lnTo>
                  <a:lnTo>
                    <a:pt x="1878995" y="8064500"/>
                  </a:lnTo>
                  <a:lnTo>
                    <a:pt x="1861709" y="8026400"/>
                  </a:lnTo>
                  <a:lnTo>
                    <a:pt x="1847969" y="7975600"/>
                  </a:lnTo>
                  <a:lnTo>
                    <a:pt x="1837944" y="7924800"/>
                  </a:lnTo>
                  <a:lnTo>
                    <a:pt x="1831805" y="7886700"/>
                  </a:lnTo>
                  <a:lnTo>
                    <a:pt x="1829721" y="7835900"/>
                  </a:lnTo>
                  <a:lnTo>
                    <a:pt x="1829721" y="5003800"/>
                  </a:lnTo>
                  <a:lnTo>
                    <a:pt x="1831805" y="4953000"/>
                  </a:lnTo>
                  <a:lnTo>
                    <a:pt x="1837944" y="4902200"/>
                  </a:lnTo>
                  <a:lnTo>
                    <a:pt x="1847969" y="4851400"/>
                  </a:lnTo>
                  <a:lnTo>
                    <a:pt x="1861709" y="4813300"/>
                  </a:lnTo>
                  <a:lnTo>
                    <a:pt x="1878995" y="4762500"/>
                  </a:lnTo>
                  <a:lnTo>
                    <a:pt x="1899656" y="4724400"/>
                  </a:lnTo>
                  <a:lnTo>
                    <a:pt x="1923522" y="4686300"/>
                  </a:lnTo>
                  <a:lnTo>
                    <a:pt x="1950424" y="4648200"/>
                  </a:lnTo>
                  <a:lnTo>
                    <a:pt x="1980191" y="4610100"/>
                  </a:lnTo>
                  <a:lnTo>
                    <a:pt x="2012653" y="4584700"/>
                  </a:lnTo>
                  <a:lnTo>
                    <a:pt x="2047641" y="4546600"/>
                  </a:lnTo>
                  <a:lnTo>
                    <a:pt x="2084985" y="4521200"/>
                  </a:lnTo>
                  <a:lnTo>
                    <a:pt x="2124514" y="4495800"/>
                  </a:lnTo>
                  <a:lnTo>
                    <a:pt x="2166059" y="4483100"/>
                  </a:lnTo>
                  <a:lnTo>
                    <a:pt x="2209449" y="4457700"/>
                  </a:lnTo>
                  <a:lnTo>
                    <a:pt x="2301087" y="4432300"/>
                  </a:lnTo>
                  <a:lnTo>
                    <a:pt x="2495060" y="4432300"/>
                  </a:lnTo>
                  <a:lnTo>
                    <a:pt x="2586732" y="4457700"/>
                  </a:lnTo>
                  <a:lnTo>
                    <a:pt x="2630145" y="4483100"/>
                  </a:lnTo>
                  <a:lnTo>
                    <a:pt x="2671716" y="4495800"/>
                  </a:lnTo>
                  <a:lnTo>
                    <a:pt x="2711274" y="4521200"/>
                  </a:lnTo>
                  <a:lnTo>
                    <a:pt x="2748648" y="4546600"/>
                  </a:lnTo>
                  <a:lnTo>
                    <a:pt x="2783668" y="4584700"/>
                  </a:lnTo>
                  <a:lnTo>
                    <a:pt x="2816162" y="4610100"/>
                  </a:lnTo>
                  <a:lnTo>
                    <a:pt x="2845961" y="4648200"/>
                  </a:lnTo>
                  <a:lnTo>
                    <a:pt x="2872893" y="4686300"/>
                  </a:lnTo>
                  <a:lnTo>
                    <a:pt x="2896788" y="4724400"/>
                  </a:lnTo>
                  <a:lnTo>
                    <a:pt x="2917475" y="4762500"/>
                  </a:lnTo>
                  <a:lnTo>
                    <a:pt x="2934784" y="4813300"/>
                  </a:lnTo>
                  <a:lnTo>
                    <a:pt x="2948543" y="4851400"/>
                  </a:lnTo>
                  <a:lnTo>
                    <a:pt x="2958583" y="4902200"/>
                  </a:lnTo>
                  <a:lnTo>
                    <a:pt x="2964732" y="4953000"/>
                  </a:lnTo>
                  <a:lnTo>
                    <a:pt x="2966819" y="5003800"/>
                  </a:lnTo>
                  <a:lnTo>
                    <a:pt x="2966819" y="7835900"/>
                  </a:lnTo>
                  <a:lnTo>
                    <a:pt x="2964728" y="7886700"/>
                  </a:lnTo>
                  <a:lnTo>
                    <a:pt x="2958571" y="7924800"/>
                  </a:lnTo>
                  <a:lnTo>
                    <a:pt x="2948518" y="7975600"/>
                  </a:lnTo>
                  <a:lnTo>
                    <a:pt x="2934742" y="8026400"/>
                  </a:lnTo>
                  <a:lnTo>
                    <a:pt x="2917414" y="8064500"/>
                  </a:lnTo>
                  <a:lnTo>
                    <a:pt x="2896706" y="8102600"/>
                  </a:lnTo>
                  <a:lnTo>
                    <a:pt x="2872789" y="8140700"/>
                  </a:lnTo>
                  <a:lnTo>
                    <a:pt x="2845837" y="8178800"/>
                  </a:lnTo>
                  <a:lnTo>
                    <a:pt x="2816019" y="8216900"/>
                  </a:lnTo>
                  <a:lnTo>
                    <a:pt x="2783509" y="8255000"/>
                  </a:lnTo>
                  <a:lnTo>
                    <a:pt x="2748477" y="8280400"/>
                  </a:lnTo>
                  <a:lnTo>
                    <a:pt x="2711096" y="8305800"/>
                  </a:lnTo>
                  <a:lnTo>
                    <a:pt x="2671537" y="8331200"/>
                  </a:lnTo>
                  <a:lnTo>
                    <a:pt x="2629972" y="8356600"/>
                  </a:lnTo>
                  <a:lnTo>
                    <a:pt x="2586573" y="8369300"/>
                  </a:lnTo>
                  <a:lnTo>
                    <a:pt x="2494958" y="8394700"/>
                  </a:lnTo>
                  <a:close/>
                </a:path>
                <a:path w="9636125" h="9639300">
                  <a:moveTo>
                    <a:pt x="788966" y="4495800"/>
                  </a:moveTo>
                  <a:lnTo>
                    <a:pt x="734316" y="4483100"/>
                  </a:lnTo>
                  <a:lnTo>
                    <a:pt x="679396" y="4483100"/>
                  </a:lnTo>
                  <a:lnTo>
                    <a:pt x="624208" y="4470400"/>
                  </a:lnTo>
                  <a:lnTo>
                    <a:pt x="788966" y="4470400"/>
                  </a:lnTo>
                  <a:lnTo>
                    <a:pt x="788966" y="4495800"/>
                  </a:lnTo>
                  <a:close/>
                </a:path>
                <a:path w="9636125" h="9639300">
                  <a:moveTo>
                    <a:pt x="651776" y="5054600"/>
                  </a:moveTo>
                  <a:lnTo>
                    <a:pt x="471571" y="5054600"/>
                  </a:lnTo>
                  <a:lnTo>
                    <a:pt x="519388" y="5041900"/>
                  </a:lnTo>
                  <a:lnTo>
                    <a:pt x="637955" y="5041900"/>
                  </a:lnTo>
                  <a:lnTo>
                    <a:pt x="651776" y="5054600"/>
                  </a:lnTo>
                  <a:close/>
                </a:path>
                <a:path w="9636125" h="9639300">
                  <a:moveTo>
                    <a:pt x="711790" y="7772400"/>
                  </a:moveTo>
                  <a:lnTo>
                    <a:pt x="424930" y="7772400"/>
                  </a:lnTo>
                  <a:lnTo>
                    <a:pt x="379888" y="7759700"/>
                  </a:lnTo>
                  <a:lnTo>
                    <a:pt x="336511" y="7734300"/>
                  </a:lnTo>
                  <a:lnTo>
                    <a:pt x="294973" y="7721600"/>
                  </a:lnTo>
                  <a:lnTo>
                    <a:pt x="255442" y="7696200"/>
                  </a:lnTo>
                  <a:lnTo>
                    <a:pt x="218092" y="7670800"/>
                  </a:lnTo>
                  <a:lnTo>
                    <a:pt x="183092" y="7632700"/>
                  </a:lnTo>
                  <a:lnTo>
                    <a:pt x="150613" y="7607300"/>
                  </a:lnTo>
                  <a:lnTo>
                    <a:pt x="120827" y="7569200"/>
                  </a:lnTo>
                  <a:lnTo>
                    <a:pt x="93905" y="7531100"/>
                  </a:lnTo>
                  <a:lnTo>
                    <a:pt x="70018" y="7493000"/>
                  </a:lnTo>
                  <a:lnTo>
                    <a:pt x="49336" y="7442200"/>
                  </a:lnTo>
                  <a:lnTo>
                    <a:pt x="32031" y="7404100"/>
                  </a:lnTo>
                  <a:lnTo>
                    <a:pt x="18274" y="7366000"/>
                  </a:lnTo>
                  <a:lnTo>
                    <a:pt x="8235" y="7315200"/>
                  </a:lnTo>
                  <a:lnTo>
                    <a:pt x="2087" y="7264400"/>
                  </a:lnTo>
                  <a:lnTo>
                    <a:pt x="0" y="7213600"/>
                  </a:lnTo>
                  <a:lnTo>
                    <a:pt x="0" y="5613400"/>
                  </a:lnTo>
                  <a:lnTo>
                    <a:pt x="2090" y="5562600"/>
                  </a:lnTo>
                  <a:lnTo>
                    <a:pt x="8247" y="5511800"/>
                  </a:lnTo>
                  <a:lnTo>
                    <a:pt x="18299" y="5473700"/>
                  </a:lnTo>
                  <a:lnTo>
                    <a:pt x="32073" y="5422900"/>
                  </a:lnTo>
                  <a:lnTo>
                    <a:pt x="49398" y="5384800"/>
                  </a:lnTo>
                  <a:lnTo>
                    <a:pt x="70100" y="5334000"/>
                  </a:lnTo>
                  <a:lnTo>
                    <a:pt x="94009" y="5295900"/>
                  </a:lnTo>
                  <a:lnTo>
                    <a:pt x="120952" y="5257800"/>
                  </a:lnTo>
                  <a:lnTo>
                    <a:pt x="150756" y="5219700"/>
                  </a:lnTo>
                  <a:lnTo>
                    <a:pt x="183251" y="5194300"/>
                  </a:lnTo>
                  <a:lnTo>
                    <a:pt x="218263" y="5168900"/>
                  </a:lnTo>
                  <a:lnTo>
                    <a:pt x="255621" y="5130800"/>
                  </a:lnTo>
                  <a:lnTo>
                    <a:pt x="295152" y="5118100"/>
                  </a:lnTo>
                  <a:lnTo>
                    <a:pt x="336685" y="5092700"/>
                  </a:lnTo>
                  <a:lnTo>
                    <a:pt x="380047" y="5080000"/>
                  </a:lnTo>
                  <a:lnTo>
                    <a:pt x="425066" y="5054600"/>
                  </a:lnTo>
                  <a:lnTo>
                    <a:pt x="706483" y="5054600"/>
                  </a:lnTo>
                  <a:lnTo>
                    <a:pt x="719967" y="5067300"/>
                  </a:lnTo>
                  <a:lnTo>
                    <a:pt x="746667" y="5067300"/>
                  </a:lnTo>
                  <a:lnTo>
                    <a:pt x="759851" y="5080000"/>
                  </a:lnTo>
                  <a:lnTo>
                    <a:pt x="785871" y="5080000"/>
                  </a:lnTo>
                  <a:lnTo>
                    <a:pt x="798693" y="5092700"/>
                  </a:lnTo>
                  <a:lnTo>
                    <a:pt x="811368" y="5092700"/>
                  </a:lnTo>
                  <a:lnTo>
                    <a:pt x="823897" y="5105400"/>
                  </a:lnTo>
                  <a:lnTo>
                    <a:pt x="836279" y="5105400"/>
                  </a:lnTo>
                  <a:lnTo>
                    <a:pt x="848499" y="5118100"/>
                  </a:lnTo>
                  <a:lnTo>
                    <a:pt x="860544" y="5118100"/>
                  </a:lnTo>
                  <a:lnTo>
                    <a:pt x="872412" y="5130800"/>
                  </a:lnTo>
                  <a:lnTo>
                    <a:pt x="884104" y="5143500"/>
                  </a:lnTo>
                  <a:lnTo>
                    <a:pt x="895606" y="5143500"/>
                  </a:lnTo>
                  <a:lnTo>
                    <a:pt x="906905" y="5156200"/>
                  </a:lnTo>
                  <a:lnTo>
                    <a:pt x="918000" y="5168900"/>
                  </a:lnTo>
                  <a:lnTo>
                    <a:pt x="928890" y="5168900"/>
                  </a:lnTo>
                  <a:lnTo>
                    <a:pt x="939564" y="5181600"/>
                  </a:lnTo>
                  <a:lnTo>
                    <a:pt x="950009" y="5194300"/>
                  </a:lnTo>
                  <a:lnTo>
                    <a:pt x="960224" y="5194300"/>
                  </a:lnTo>
                  <a:lnTo>
                    <a:pt x="970210" y="5207000"/>
                  </a:lnTo>
                  <a:lnTo>
                    <a:pt x="979955" y="5219700"/>
                  </a:lnTo>
                  <a:lnTo>
                    <a:pt x="989446" y="5232400"/>
                  </a:lnTo>
                  <a:lnTo>
                    <a:pt x="998683" y="5245100"/>
                  </a:lnTo>
                  <a:lnTo>
                    <a:pt x="1007668" y="5245100"/>
                  </a:lnTo>
                  <a:lnTo>
                    <a:pt x="1033009" y="5283200"/>
                  </a:lnTo>
                  <a:lnTo>
                    <a:pt x="1055845" y="5321300"/>
                  </a:lnTo>
                  <a:lnTo>
                    <a:pt x="1076044" y="5359400"/>
                  </a:lnTo>
                  <a:lnTo>
                    <a:pt x="1093498" y="5397500"/>
                  </a:lnTo>
                  <a:lnTo>
                    <a:pt x="1108116" y="5435600"/>
                  </a:lnTo>
                  <a:lnTo>
                    <a:pt x="1119823" y="5473700"/>
                  </a:lnTo>
                  <a:lnTo>
                    <a:pt x="1128550" y="5511800"/>
                  </a:lnTo>
                  <a:lnTo>
                    <a:pt x="1134252" y="5549900"/>
                  </a:lnTo>
                  <a:lnTo>
                    <a:pt x="1135475" y="5575300"/>
                  </a:lnTo>
                  <a:lnTo>
                    <a:pt x="1136357" y="5588000"/>
                  </a:lnTo>
                  <a:lnTo>
                    <a:pt x="1136898" y="5600700"/>
                  </a:lnTo>
                  <a:lnTo>
                    <a:pt x="1137098" y="5613400"/>
                  </a:lnTo>
                  <a:lnTo>
                    <a:pt x="1137098" y="7213600"/>
                  </a:lnTo>
                  <a:lnTo>
                    <a:pt x="1135008" y="7264400"/>
                  </a:lnTo>
                  <a:lnTo>
                    <a:pt x="1128850" y="7315200"/>
                  </a:lnTo>
                  <a:lnTo>
                    <a:pt x="1118797" y="7366000"/>
                  </a:lnTo>
                  <a:lnTo>
                    <a:pt x="1105021" y="7404100"/>
                  </a:lnTo>
                  <a:lnTo>
                    <a:pt x="1087693" y="7454900"/>
                  </a:lnTo>
                  <a:lnTo>
                    <a:pt x="1066985" y="7493000"/>
                  </a:lnTo>
                  <a:lnTo>
                    <a:pt x="1043069" y="7531100"/>
                  </a:lnTo>
                  <a:lnTo>
                    <a:pt x="1016116" y="7569200"/>
                  </a:lnTo>
                  <a:lnTo>
                    <a:pt x="986299" y="7607300"/>
                  </a:lnTo>
                  <a:lnTo>
                    <a:pt x="953788" y="7632700"/>
                  </a:lnTo>
                  <a:lnTo>
                    <a:pt x="918756" y="7670800"/>
                  </a:lnTo>
                  <a:lnTo>
                    <a:pt x="881375" y="7696200"/>
                  </a:lnTo>
                  <a:lnTo>
                    <a:pt x="841816" y="7721600"/>
                  </a:lnTo>
                  <a:lnTo>
                    <a:pt x="800251" y="7734300"/>
                  </a:lnTo>
                  <a:lnTo>
                    <a:pt x="756852" y="7759700"/>
                  </a:lnTo>
                  <a:lnTo>
                    <a:pt x="711790" y="7772400"/>
                  </a:lnTo>
                  <a:close/>
                </a:path>
                <a:path w="9636125" h="9639300">
                  <a:moveTo>
                    <a:pt x="617366" y="7785100"/>
                  </a:moveTo>
                  <a:lnTo>
                    <a:pt x="519331" y="7785100"/>
                  </a:lnTo>
                  <a:lnTo>
                    <a:pt x="471468" y="7772400"/>
                  </a:lnTo>
                  <a:lnTo>
                    <a:pt x="665237" y="7772400"/>
                  </a:lnTo>
                  <a:lnTo>
                    <a:pt x="617366" y="7785100"/>
                  </a:lnTo>
                  <a:close/>
                </a:path>
                <a:path w="9636125" h="9639300">
                  <a:moveTo>
                    <a:pt x="9177753" y="8801100"/>
                  </a:moveTo>
                  <a:lnTo>
                    <a:pt x="9046658" y="8801100"/>
                  </a:lnTo>
                  <a:lnTo>
                    <a:pt x="8894790" y="8763000"/>
                  </a:lnTo>
                  <a:lnTo>
                    <a:pt x="7194607" y="8255000"/>
                  </a:lnTo>
                  <a:lnTo>
                    <a:pt x="7194607" y="7797800"/>
                  </a:lnTo>
                  <a:lnTo>
                    <a:pt x="9025137" y="8343900"/>
                  </a:lnTo>
                  <a:lnTo>
                    <a:pt x="9044089" y="8343900"/>
                  </a:lnTo>
                  <a:lnTo>
                    <a:pt x="9063293" y="8356600"/>
                  </a:lnTo>
                  <a:lnTo>
                    <a:pt x="9630253" y="8356600"/>
                  </a:lnTo>
                  <a:lnTo>
                    <a:pt x="9628133" y="8369300"/>
                  </a:lnTo>
                  <a:lnTo>
                    <a:pt x="9619768" y="8407400"/>
                  </a:lnTo>
                  <a:lnTo>
                    <a:pt x="9608427" y="8445500"/>
                  </a:lnTo>
                  <a:lnTo>
                    <a:pt x="9594181" y="8483600"/>
                  </a:lnTo>
                  <a:lnTo>
                    <a:pt x="9577117" y="8521700"/>
                  </a:lnTo>
                  <a:lnTo>
                    <a:pt x="9557334" y="8559800"/>
                  </a:lnTo>
                  <a:lnTo>
                    <a:pt x="9542687" y="8585200"/>
                  </a:lnTo>
                  <a:lnTo>
                    <a:pt x="9534947" y="8585200"/>
                  </a:lnTo>
                  <a:lnTo>
                    <a:pt x="9526934" y="8597900"/>
                  </a:lnTo>
                  <a:lnTo>
                    <a:pt x="9518645" y="8610600"/>
                  </a:lnTo>
                  <a:lnTo>
                    <a:pt x="9510094" y="8623300"/>
                  </a:lnTo>
                  <a:lnTo>
                    <a:pt x="9501290" y="8636000"/>
                  </a:lnTo>
                  <a:lnTo>
                    <a:pt x="9492235" y="8636000"/>
                  </a:lnTo>
                  <a:lnTo>
                    <a:pt x="9482928" y="8648700"/>
                  </a:lnTo>
                  <a:lnTo>
                    <a:pt x="9473381" y="8661400"/>
                  </a:lnTo>
                  <a:lnTo>
                    <a:pt x="9463607" y="8674100"/>
                  </a:lnTo>
                  <a:lnTo>
                    <a:pt x="9453607" y="8674100"/>
                  </a:lnTo>
                  <a:lnTo>
                    <a:pt x="9443379" y="8686800"/>
                  </a:lnTo>
                  <a:lnTo>
                    <a:pt x="9432937" y="8699500"/>
                  </a:lnTo>
                  <a:lnTo>
                    <a:pt x="9422296" y="8699500"/>
                  </a:lnTo>
                  <a:lnTo>
                    <a:pt x="9411455" y="8712200"/>
                  </a:lnTo>
                  <a:lnTo>
                    <a:pt x="9400414" y="8712200"/>
                  </a:lnTo>
                  <a:lnTo>
                    <a:pt x="9389190" y="8724900"/>
                  </a:lnTo>
                  <a:lnTo>
                    <a:pt x="9377796" y="8724900"/>
                  </a:lnTo>
                  <a:lnTo>
                    <a:pt x="9366231" y="8737600"/>
                  </a:lnTo>
                  <a:lnTo>
                    <a:pt x="9354496" y="8737600"/>
                  </a:lnTo>
                  <a:lnTo>
                    <a:pt x="9342607" y="8750300"/>
                  </a:lnTo>
                  <a:lnTo>
                    <a:pt x="9330580" y="8750300"/>
                  </a:lnTo>
                  <a:lnTo>
                    <a:pt x="9318413" y="8763000"/>
                  </a:lnTo>
                  <a:lnTo>
                    <a:pt x="9293681" y="8763000"/>
                  </a:lnTo>
                  <a:lnTo>
                    <a:pt x="9281148" y="8775700"/>
                  </a:lnTo>
                  <a:lnTo>
                    <a:pt x="9255765" y="8775700"/>
                  </a:lnTo>
                  <a:lnTo>
                    <a:pt x="9242931" y="8788400"/>
                  </a:lnTo>
                  <a:lnTo>
                    <a:pt x="9190894" y="8788400"/>
                  </a:lnTo>
                  <a:lnTo>
                    <a:pt x="9177753" y="8801100"/>
                  </a:lnTo>
                  <a:close/>
                </a:path>
                <a:path w="9636125" h="9639300">
                  <a:moveTo>
                    <a:pt x="6106582" y="9639300"/>
                  </a:moveTo>
                  <a:lnTo>
                    <a:pt x="6057509" y="9639300"/>
                  </a:lnTo>
                  <a:lnTo>
                    <a:pt x="6008436" y="9626600"/>
                  </a:lnTo>
                  <a:lnTo>
                    <a:pt x="6154489" y="9626600"/>
                  </a:lnTo>
                  <a:lnTo>
                    <a:pt x="6106582" y="9639300"/>
                  </a:lnTo>
                  <a:close/>
                </a:path>
              </a:pathLst>
            </a:custGeom>
            <a:solidFill>
              <a:srgbClr val="333333">
                <a:alpha val="2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868217" y="2911475"/>
            <a:ext cx="8551545" cy="427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6730"/>
              </a:lnSpc>
              <a:spcBef>
                <a:spcPts val="100"/>
              </a:spcBef>
            </a:pPr>
            <a:r>
              <a:rPr sz="14700" spc="-890" dirty="0">
                <a:solidFill>
                  <a:srgbClr val="FFBD58"/>
                </a:solidFill>
                <a:latin typeface="Arial Black"/>
                <a:cs typeface="Arial Black"/>
              </a:rPr>
              <a:t>ANY</a:t>
            </a:r>
            <a:endParaRPr sz="14700">
              <a:latin typeface="Arial Black"/>
              <a:cs typeface="Arial Black"/>
            </a:endParaRPr>
          </a:p>
          <a:p>
            <a:pPr algn="ctr">
              <a:lnSpc>
                <a:spcPts val="16730"/>
              </a:lnSpc>
            </a:pPr>
            <a:r>
              <a:rPr sz="14700" spc="-540" dirty="0">
                <a:solidFill>
                  <a:srgbClr val="FFBD58"/>
                </a:solidFill>
                <a:latin typeface="Arial Black"/>
                <a:cs typeface="Arial Black"/>
              </a:rPr>
              <a:t>Queries?</a:t>
            </a:r>
            <a:endParaRPr sz="14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9773" y="2776123"/>
            <a:ext cx="6695835" cy="425147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45624" y="4481174"/>
            <a:ext cx="3529965" cy="2031364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5080">
              <a:lnSpc>
                <a:spcPts val="7880"/>
              </a:lnSpc>
              <a:spcBef>
                <a:spcPts val="234"/>
              </a:spcBef>
            </a:pPr>
            <a:r>
              <a:rPr b="0" spc="495" dirty="0">
                <a:solidFill>
                  <a:srgbClr val="BF0000"/>
                </a:solidFill>
                <a:latin typeface="Palatino Linotype"/>
                <a:cs typeface="Palatino Linotype"/>
              </a:rPr>
              <a:t>THANK </a:t>
            </a:r>
            <a:r>
              <a:rPr b="0" spc="620" dirty="0">
                <a:solidFill>
                  <a:srgbClr val="BF0000"/>
                </a:solidFill>
                <a:latin typeface="Palatino Linotype"/>
                <a:cs typeface="Palatino Linotype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Words>805</Words>
  <Application>Microsoft Office PowerPoint</Application>
  <PresentationFormat>Custom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Black</vt:lpstr>
      <vt:lpstr>Calibri</vt:lpstr>
      <vt:lpstr>Palatino Linotype</vt:lpstr>
      <vt:lpstr>Times New Roman</vt:lpstr>
      <vt:lpstr>Office Theme</vt:lpstr>
      <vt:lpstr>Telecom Customer Churn Analysis Using Power BI</vt:lpstr>
      <vt:lpstr>Agenda</vt:lpstr>
      <vt:lpstr>Project Overview</vt:lpstr>
      <vt:lpstr>Data Source</vt:lpstr>
      <vt:lpstr>Data Preparation</vt:lpstr>
      <vt:lpstr>Dashboard Visualizations</vt:lpstr>
      <vt:lpstr>Dashboard Visualizations</vt:lpstr>
      <vt:lpstr>Dashboard Visualizations</vt:lpstr>
      <vt:lpstr>PowerPoint Presentation</vt:lpstr>
      <vt:lpstr>PowerPoint Presentation</vt:lpstr>
      <vt:lpstr>PowerPoint Presentation</vt:lpstr>
      <vt:lpstr>Applications &amp; Recommendations</vt:lpstr>
      <vt:lpstr>Conclusion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creator>657 Bunty</dc:creator>
  <cp:keywords>DAG4AV4N9GY,BAGSa6iACEI,0</cp:keywords>
  <cp:lastModifiedBy>RAKESH P</cp:lastModifiedBy>
  <cp:revision>1</cp:revision>
  <dcterms:created xsi:type="dcterms:W3CDTF">2025-11-15T05:51:58Z</dcterms:created>
  <dcterms:modified xsi:type="dcterms:W3CDTF">2025-11-15T07:42:12Z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2025-11-07T00:00:00Z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2025-11-15T00:00:00Z</vt:filetime>
  </property>
  <property fmtid="{D5CDD505-2E9C-101B-9397-08002B2CF9AE}" pid="5" name="Producer">
    <vt:lpwstr>Canva</vt:lpwstr>
  </property>
</Properties>
</file>